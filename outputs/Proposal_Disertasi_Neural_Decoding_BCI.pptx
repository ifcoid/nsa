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937760"/>
            <a:ext cx="12191695" cy="1920240"/>
          </a:xfrm>
          <a:prstGeom prst="rect">
            <a:avLst/>
          </a:prstGeom>
          <a:solidFill>
            <a:srgbClr val="133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4937760"/>
            <a:ext cx="12191695" cy="38100"/>
          </a:xfrm>
          <a:prstGeom prst="rect">
            <a:avLst/>
          </a:prstGeom>
          <a:solidFill>
            <a:srgbClr val="13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537708" y="605367"/>
            <a:ext cx="108668" cy="108668"/>
          </a:xfrm>
          <a:prstGeom prst="ellipse">
            <a:avLst/>
          </a:prstGeom>
          <a:solidFill>
            <a:srgbClr val="F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74519" y="1076846"/>
            <a:ext cx="55956" cy="55956"/>
          </a:xfrm>
          <a:prstGeom prst="ellipse">
            <a:avLst/>
          </a:prstGeom>
          <a:solidFill>
            <a:srgbClr val="13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42766" y="1225981"/>
            <a:ext cx="57010" cy="57010"/>
          </a:xfrm>
          <a:prstGeom prst="ellipse">
            <a:avLst/>
          </a:prstGeom>
          <a:solidFill>
            <a:srgbClr val="F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887565" y="2088896"/>
            <a:ext cx="61805" cy="61805"/>
          </a:xfrm>
          <a:prstGeom prst="ellipse">
            <a:avLst/>
          </a:prstGeom>
          <a:solidFill>
            <a:srgbClr val="F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592634" y="2354124"/>
            <a:ext cx="102104" cy="102104"/>
          </a:xfrm>
          <a:prstGeom prst="ellipse">
            <a:avLst/>
          </a:prstGeom>
          <a:solidFill>
            <a:srgbClr val="F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804693" y="376548"/>
            <a:ext cx="127117" cy="127117"/>
          </a:xfrm>
          <a:prstGeom prst="ellipse">
            <a:avLst/>
          </a:prstGeom>
          <a:solidFill>
            <a:srgbClr val="F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913726" y="532822"/>
            <a:ext cx="78224" cy="78224"/>
          </a:xfrm>
          <a:prstGeom prst="ellipse">
            <a:avLst/>
          </a:prstGeom>
          <a:solidFill>
            <a:srgbClr val="13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040453" y="1550676"/>
            <a:ext cx="107599" cy="107599"/>
          </a:xfrm>
          <a:prstGeom prst="ellipse">
            <a:avLst/>
          </a:prstGeom>
          <a:solidFill>
            <a:srgbClr val="F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315738" y="412114"/>
            <a:ext cx="56098" cy="56098"/>
          </a:xfrm>
          <a:prstGeom prst="ellipse">
            <a:avLst/>
          </a:prstGeom>
          <a:solidFill>
            <a:srgbClr val="F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776679" y="1212696"/>
            <a:ext cx="78727" cy="78727"/>
          </a:xfrm>
          <a:prstGeom prst="ellipse">
            <a:avLst/>
          </a:prstGeom>
          <a:solidFill>
            <a:srgbClr val="13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987168" y="932176"/>
            <a:ext cx="121420" cy="121420"/>
          </a:xfrm>
          <a:prstGeom prst="ellipse">
            <a:avLst/>
          </a:prstGeom>
          <a:solidFill>
            <a:srgbClr val="13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260647" y="1534927"/>
            <a:ext cx="97489" cy="97489"/>
          </a:xfrm>
          <a:prstGeom prst="ellipse">
            <a:avLst/>
          </a:prstGeom>
          <a:solidFill>
            <a:srgbClr val="13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947098" y="906216"/>
            <a:ext cx="137937" cy="137937"/>
          </a:xfrm>
          <a:prstGeom prst="ellipse">
            <a:avLst/>
          </a:prstGeom>
          <a:solidFill>
            <a:srgbClr val="F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865339" y="1935911"/>
            <a:ext cx="64311" cy="64311"/>
          </a:xfrm>
          <a:prstGeom prst="ellipse">
            <a:avLst/>
          </a:prstGeom>
          <a:solidFill>
            <a:srgbClr val="F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548714" y="1740759"/>
            <a:ext cx="118770" cy="118770"/>
          </a:xfrm>
          <a:prstGeom prst="ellipse">
            <a:avLst/>
          </a:prstGeom>
          <a:solidFill>
            <a:srgbClr val="13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1454520" y="962857"/>
            <a:ext cx="112611" cy="112611"/>
          </a:xfrm>
          <a:prstGeom prst="ellipse">
            <a:avLst/>
          </a:prstGeom>
          <a:solidFill>
            <a:srgbClr val="13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427453" y="1275489"/>
            <a:ext cx="125473" cy="125473"/>
          </a:xfrm>
          <a:prstGeom prst="ellipse">
            <a:avLst/>
          </a:prstGeom>
          <a:solidFill>
            <a:srgbClr val="13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059838" y="1731841"/>
            <a:ext cx="56193" cy="56193"/>
          </a:xfrm>
          <a:prstGeom prst="ellipse">
            <a:avLst/>
          </a:prstGeom>
          <a:solidFill>
            <a:srgbClr val="13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661071" y="2453728"/>
            <a:ext cx="123869" cy="123869"/>
          </a:xfrm>
          <a:prstGeom prst="ellipse">
            <a:avLst/>
          </a:prstGeom>
          <a:solidFill>
            <a:srgbClr val="F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752997" y="1741718"/>
            <a:ext cx="52805" cy="52805"/>
          </a:xfrm>
          <a:prstGeom prst="ellipse">
            <a:avLst/>
          </a:prstGeom>
          <a:solidFill>
            <a:srgbClr val="F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996401" y="531293"/>
            <a:ext cx="56041" cy="56041"/>
          </a:xfrm>
          <a:prstGeom prst="ellipse">
            <a:avLst/>
          </a:prstGeom>
          <a:solidFill>
            <a:srgbClr val="13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861901" y="817725"/>
            <a:ext cx="85555" cy="85555"/>
          </a:xfrm>
          <a:prstGeom prst="ellipse">
            <a:avLst/>
          </a:prstGeom>
          <a:solidFill>
            <a:srgbClr val="13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692477" y="1260088"/>
            <a:ext cx="99645" cy="99645"/>
          </a:xfrm>
          <a:prstGeom prst="ellipse">
            <a:avLst/>
          </a:prstGeom>
          <a:solidFill>
            <a:srgbClr val="13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1259248" y="2170385"/>
            <a:ext cx="75551" cy="75551"/>
          </a:xfrm>
          <a:prstGeom prst="ellipse">
            <a:avLst/>
          </a:prstGeom>
          <a:solidFill>
            <a:srgbClr val="F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659109" y="2214734"/>
            <a:ext cx="135942" cy="135942"/>
          </a:xfrm>
          <a:prstGeom prst="ellipse">
            <a:avLst/>
          </a:prstGeom>
          <a:solidFill>
            <a:srgbClr val="F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024787" y="783363"/>
            <a:ext cx="71543" cy="71543"/>
          </a:xfrm>
          <a:prstGeom prst="ellipse">
            <a:avLst/>
          </a:prstGeom>
          <a:solidFill>
            <a:srgbClr val="F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31520" y="777240"/>
            <a:ext cx="2743200" cy="310896"/>
          </a:xfrm>
          <a:prstGeom prst="roundRect">
            <a:avLst>
              <a:gd name="adj" fmla="val 50000"/>
            </a:avLst>
          </a:prstGeom>
          <a:solidFill>
            <a:srgbClr val="F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700" bIns="1270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Calibri"/>
              </a:rPr>
              <a:t>PROPOSAL DISERTASI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1554480"/>
            <a:ext cx="10698480" cy="23774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Peningkatan Akurasi dan Skalabilitas </a:t>
            </a:r>
            <a:r>
              <a:rPr sz="4000" b="1" i="0">
                <a:solidFill>
                  <a:srgbClr val="13A0A6"/>
                </a:solidFill>
                <a:latin typeface="Calibri"/>
              </a:rPr>
              <a:t>Neural Decoding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Menggunakan Model Machine Learning Lanjut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pada Ekosistem BCI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3977639"/>
            <a:ext cx="1051560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1">
                <a:solidFill>
                  <a:srgbClr val="5B6B7B"/>
                </a:solidFill>
                <a:latin typeface="Calibri"/>
              </a:rPr>
              <a:t>Tinjauan Sistematis Transisi Arsitektur Transformer → </a:t>
            </a:r>
            <a:r>
              <a:rPr sz="1600" b="0" i="1">
                <a:solidFill>
                  <a:srgbClr val="F4A300"/>
                </a:solidFill>
                <a:latin typeface="Calibri"/>
              </a:rPr>
              <a:t>State-Space Models (Mamba/S4)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120640"/>
            <a:ext cx="7772400" cy="1463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Rolly Maulana Awangga</a:t>
            </a:r>
            <a:r>
              <a:rPr sz="1300" b="0" i="0">
                <a:solidFill>
                  <a:srgbClr val="5B6B7B"/>
                </a:solidFill>
                <a:latin typeface="Calibri"/>
              </a:rPr>
              <a:t>   NIM 303012510004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5B6B7B"/>
                </a:solidFill>
                <a:latin typeface="Calibri"/>
              </a:rPr>
              <a:t>Program Doktor — Universitas Telkom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3A0A6"/>
                </a:solidFill>
                <a:latin typeface="Calibri"/>
              </a:rPr>
              <a:t>rollymaulanaa@student.telkomuniversity.ac.id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5943600"/>
            <a:ext cx="24688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5B6B7B"/>
                </a:solidFill>
                <a:latin typeface="Calibri"/>
              </a:rPr>
              <a:t>Dipresentasikan: Juni 2026</a:t>
            </a:r>
          </a:p>
        </p:txBody>
      </p:sp>
      <p:pic>
        <p:nvPicPr>
          <p:cNvPr id="37" name="Picture 2">
            <a:extLst>
              <a:ext uri="{FF2B5EF4-FFF2-40B4-BE49-F238E27FC236}">
                <a16:creationId xmlns:a16="http://schemas.microsoft.com/office/drawing/2014/main" id="{18430D9B-A55A-2F8B-A403-BABC0B5A64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826" y="35373"/>
            <a:ext cx="2963525" cy="639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3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78992"/>
          </a:xfrm>
          <a:prstGeom prst="rect">
            <a:avLst/>
          </a:prstGeom>
          <a:solidFill>
            <a:srgbClr val="F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3A0A6"/>
                </a:solidFill>
                <a:latin typeface="Calibri"/>
              </a:rPr>
              <a:t>LATAR BELAKANG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2336"/>
            <a:ext cx="10789920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Konteks: Neural Decoding pada Brain–Computer 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146304"/>
            <a:ext cx="6400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B7B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11155680" cy="8229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0B2545"/>
                </a:solidFill>
                <a:latin typeface="Calibri"/>
              </a:rPr>
              <a:t>Brain–Computer Interface (BCI) menerjemahkan </a:t>
            </a:r>
            <a:r>
              <a:rPr sz="1500" b="1" i="0">
                <a:solidFill>
                  <a:srgbClr val="13A0A6"/>
                </a:solidFill>
                <a:latin typeface="Calibri"/>
              </a:rPr>
              <a:t>sinyal saraf</a:t>
            </a:r>
            <a:r>
              <a:rPr sz="1500" b="0" i="0">
                <a:solidFill>
                  <a:srgbClr val="0B2545"/>
                </a:solidFill>
                <a:latin typeface="Calibri"/>
              </a:rPr>
              <a:t> (EEG, fMRI, ECoG, intracortical spiking) menjadi perintah kontrol. Inti sistemnya adalah </a:t>
            </a:r>
            <a:r>
              <a:rPr sz="1500" b="1" i="0">
                <a:solidFill>
                  <a:srgbClr val="13A0A6"/>
                </a:solidFill>
                <a:latin typeface="Calibri"/>
              </a:rPr>
              <a:t>neural decoder</a:t>
            </a:r>
            <a:r>
              <a:rPr sz="1500" b="0" i="0">
                <a:solidFill>
                  <a:srgbClr val="0B2545"/>
                </a:solidFill>
                <a:latin typeface="Calibri"/>
              </a:rPr>
              <a:t> — model machine learning yang memetakan aktivitas otak ke niat pengguna.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468880"/>
            <a:ext cx="3611880" cy="2286000"/>
          </a:xfrm>
          <a:prstGeom prst="roundRect">
            <a:avLst>
              <a:gd name="adj" fmla="val 6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2468880"/>
            <a:ext cx="3611880" cy="63500"/>
          </a:xfrm>
          <a:prstGeom prst="rect">
            <a:avLst/>
          </a:prstGeom>
          <a:solidFill>
            <a:srgbClr val="13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724912"/>
            <a:ext cx="315468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3A0A6"/>
                </a:solidFill>
                <a:latin typeface="Calibri"/>
              </a:rPr>
              <a:t>⚡ Akurasi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83280"/>
            <a:ext cx="3154680" cy="11887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B6B7B"/>
                </a:solidFill>
                <a:latin typeface="Calibri"/>
              </a:rPr>
              <a:t>Deep learning (CNN, RNN, Transformer) telah mendongkrak akurasi dekoding secara signifikan dalam dekade terakhir.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2468880"/>
            <a:ext cx="3611880" cy="2286000"/>
          </a:xfrm>
          <a:prstGeom prst="roundRect">
            <a:avLst>
              <a:gd name="adj" fmla="val 6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15968" y="2468880"/>
            <a:ext cx="3611880" cy="63500"/>
          </a:xfrm>
          <a:prstGeom prst="rect">
            <a:avLst/>
          </a:prstGeom>
          <a:solidFill>
            <a:srgbClr val="F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44568" y="2724912"/>
            <a:ext cx="315468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4A300"/>
                </a:solidFill>
                <a:latin typeface="Calibri"/>
              </a:rPr>
              <a:t>⏱️ Latensi Real-time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3383280"/>
            <a:ext cx="3154680" cy="11887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B6B7B"/>
                </a:solidFill>
                <a:latin typeface="Calibri"/>
              </a:rPr>
              <a:t>BCI closed-loop &amp; neuro-prostetik menuntut inferensi seketika (&lt;10 ms) di perangkat edge berdaya rendah.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9016" y="2468880"/>
            <a:ext cx="3611880" cy="2286000"/>
          </a:xfrm>
          <a:prstGeom prst="roundRect">
            <a:avLst>
              <a:gd name="adj" fmla="val 6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29016" y="2468880"/>
            <a:ext cx="3611880" cy="635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57616" y="2724912"/>
            <a:ext cx="315468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B2545"/>
                </a:solidFill>
                <a:latin typeface="Calibri"/>
              </a:rPr>
              <a:t>📈 Skalabilitas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7616" y="3383280"/>
            <a:ext cx="3154680" cy="11887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B6B7B"/>
                </a:solidFill>
                <a:latin typeface="Calibri"/>
              </a:rPr>
              <a:t>Sekuens sinyal saraf sangat panjang; biaya komputasi model harus tumbuh efisien, bukan kuadratik.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029200"/>
            <a:ext cx="11183112" cy="1234440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5138928"/>
            <a:ext cx="10607040" cy="10058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4A300"/>
                </a:solidFill>
                <a:latin typeface="Calibri"/>
              </a:rPr>
              <a:t>Tensi utama bidang ini: 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memaksimalkan akurasi dekoding sekaligus menekan biaya komputasi &amp; latensi agar BCI dapat dipakai nyata di perangkat implan/edge.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5B6B7B"/>
                </a:solidFill>
                <a:latin typeface="Calibri"/>
              </a:rPr>
              <a:t>Pertanyaannya: arsitektur ML mana yang paling 'mangkus' untuk ekosistem BCI generasi berikutnya?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B7B"/>
                </a:solidFill>
                <a:latin typeface="Calibri"/>
              </a:rPr>
              <a:t>Proposal Disertasi  ·  </a:t>
            </a:r>
            <a:r>
              <a:rPr sz="800" b="0" i="1">
                <a:solidFill>
                  <a:srgbClr val="5B6B7B"/>
                </a:solidFill>
                <a:latin typeface="Calibri"/>
              </a:rPr>
              <a:t>Neural Decoding BCI berbasis State-Space Models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6510528"/>
            <a:ext cx="16459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B7B"/>
                </a:solidFill>
                <a:latin typeface="Calibri"/>
              </a:rPr>
              <a:t>Rolly M. Awangga · Tel-U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3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78992"/>
          </a:xfrm>
          <a:prstGeom prst="rect">
            <a:avLst/>
          </a:prstGeom>
          <a:solidFill>
            <a:srgbClr val="F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3A0A6"/>
                </a:solidFill>
                <a:latin typeface="Calibri"/>
              </a:rPr>
              <a:t>MASALAH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2336"/>
            <a:ext cx="10789920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Bottleneck Transformer &amp; Munculnya State-Space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146304"/>
            <a:ext cx="6400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B7B"/>
                </a:solidFill>
                <a:latin typeface="Calibri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25880"/>
            <a:ext cx="5394960" cy="3657600"/>
          </a:xfrm>
          <a:prstGeom prst="roundRect">
            <a:avLst>
              <a:gd name="adj" fmla="val 6000"/>
            </a:avLst>
          </a:prstGeom>
          <a:solidFill>
            <a:srgbClr val="EEF4F7"/>
          </a:solidFill>
          <a:ln w="15875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1527048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C44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700" bIns="127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ARSITEKTUR SAAT INI: TRANSFORMER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5740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1350" b="0">
                <a:solidFill>
                  <a:srgbClr val="0B2545"/>
                </a:solidFill>
                <a:latin typeface="Calibri"/>
              </a:rPr>
              <a:t>●  Akurasi superior pada dekoding BCI — sudah menjadi standar de-facto.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1350" b="0">
                <a:solidFill>
                  <a:srgbClr val="0B2545"/>
                </a:solidFill>
                <a:latin typeface="Calibri"/>
              </a:rPr>
              <a:t>●  Mekanisme atensi berkompleksitas KUADRATIK O(n²) terhadap panjang sekuens.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1350" b="0">
                <a:solidFill>
                  <a:srgbClr val="0B2545"/>
                </a:solidFill>
                <a:latin typeface="Calibri"/>
              </a:rPr>
              <a:t>●  Boros memori &amp; daya → sulit ditanam pada implan / edge device.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1350" b="0">
                <a:solidFill>
                  <a:srgbClr val="0B2545"/>
                </a:solidFill>
                <a:latin typeface="Calibri"/>
              </a:rPr>
              <a:t>●  Gagal memenuhi target latensi &lt;10 ms untuk closed-loop real-time.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25880"/>
            <a:ext cx="5422392" cy="3657600"/>
          </a:xfrm>
          <a:prstGeom prst="roundRect">
            <a:avLst>
              <a:gd name="adj" fmla="val 6000"/>
            </a:avLst>
          </a:prstGeom>
          <a:solidFill>
            <a:srgbClr val="EEF4F7"/>
          </a:solidFill>
          <a:ln w="15875">
            <a:solidFill>
              <a:srgbClr val="13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92240" y="1527048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13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700" bIns="127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PERGESERAN: STATE-SPACE MODELS (MAMBA/S4)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057400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1350" b="0">
                <a:solidFill>
                  <a:srgbClr val="0B2545"/>
                </a:solidFill>
                <a:latin typeface="Calibri"/>
              </a:rPr>
              <a:t>●  Kompleksitas LINEAR O(n) terhadap panjang sekuens.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1350" b="0">
                <a:solidFill>
                  <a:srgbClr val="0B2545"/>
                </a:solidFill>
                <a:latin typeface="Calibri"/>
              </a:rPr>
              <a:t>●  Hemat memori, mendukung paralelisasi layaknya konvolusi.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1350" b="0">
                <a:solidFill>
                  <a:srgbClr val="0B2545"/>
                </a:solidFill>
                <a:latin typeface="Calibri"/>
              </a:rPr>
              <a:t>●  Klaim latensi inferensi real-time turun tajam (mis. POSSM).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1350" b="0">
                <a:solidFill>
                  <a:srgbClr val="0B2545"/>
                </a:solidFill>
                <a:latin typeface="Calibri"/>
              </a:rPr>
              <a:t>●  Mewarisi akurasi Transformer tanpa beban komputasi kuadratik.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349240"/>
            <a:ext cx="11183112" cy="914400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5440680"/>
            <a:ext cx="10607040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4A300"/>
                </a:solidFill>
                <a:latin typeface="Calibri"/>
              </a:rPr>
              <a:t>Motivasi: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Sejak S4 (2021) dan Mamba (2023), literatur deep-learning BCI bergeser cepat ke SSM — namun bukti efektivitasnya masih </a:t>
            </a:r>
            <a:r>
              <a:rPr sz="1400" b="1" i="0">
                <a:solidFill>
                  <a:srgbClr val="F4A300"/>
                </a:solidFill>
                <a:latin typeface="Calibri"/>
              </a:rPr>
              <a:t>terfragmentasi dan belum disintesis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B7B"/>
                </a:solidFill>
                <a:latin typeface="Calibri"/>
              </a:rPr>
              <a:t>Proposal Disertasi  ·  </a:t>
            </a:r>
            <a:r>
              <a:rPr sz="800" b="0" i="1">
                <a:solidFill>
                  <a:srgbClr val="5B6B7B"/>
                </a:solidFill>
                <a:latin typeface="Calibri"/>
              </a:rPr>
              <a:t>Neural Decoding BCI berbasis State-Space Models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510528"/>
            <a:ext cx="16459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B7B"/>
                </a:solidFill>
                <a:latin typeface="Calibri"/>
              </a:rPr>
              <a:t>Rolly M. Awangga · Tel-U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3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78992"/>
          </a:xfrm>
          <a:prstGeom prst="rect">
            <a:avLst/>
          </a:prstGeom>
          <a:solidFill>
            <a:srgbClr val="F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3A0A6"/>
                </a:solidFill>
                <a:latin typeface="Calibri"/>
              </a:rPr>
              <a:t>KESENJANGAN PENELITIAN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2336"/>
            <a:ext cx="10789920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Research Gap — Fragmentasi Literatur (Tipe 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146304"/>
            <a:ext cx="6400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B7B"/>
                </a:solidFill>
                <a:latin typeface="Calibri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25880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F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700" bIns="1270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Calibri"/>
              </a:rPr>
              <a:t>GAP TIPE A · FRAGMENTASI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28800"/>
            <a:ext cx="11155680" cy="1371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0B2545"/>
                </a:solidFill>
                <a:latin typeface="Calibri"/>
              </a:rPr>
              <a:t>Implementasi SSM/Mamba untuk neural decoding tersebar pada </a:t>
            </a:r>
            <a:r>
              <a:rPr sz="1600" b="1" i="0">
                <a:solidFill>
                  <a:srgbClr val="13A0A6"/>
                </a:solidFill>
                <a:latin typeface="Calibri"/>
              </a:rPr>
              <a:t>modalitas spesifik</a:t>
            </a:r>
            <a:r>
              <a:rPr sz="1600" b="0" i="0">
                <a:solidFill>
                  <a:srgbClr val="0B2545"/>
                </a:solidFill>
                <a:latin typeface="Calibri"/>
              </a:rPr>
              <a:t> (spiking NHP, EEG, fMRI) </a:t>
            </a:r>
            <a:r>
              <a:rPr sz="1600" b="1" i="0">
                <a:solidFill>
                  <a:srgbClr val="C44536"/>
                </a:solidFill>
                <a:latin typeface="Calibri"/>
              </a:rPr>
              <a:t>tanpa sintesis sistematis</a:t>
            </a:r>
            <a:r>
              <a:rPr sz="1600" b="0" i="0">
                <a:solidFill>
                  <a:srgbClr val="0B2545"/>
                </a:solidFill>
                <a:latin typeface="Calibri"/>
              </a:rPr>
              <a:t> mengenai rasio </a:t>
            </a:r>
            <a:r>
              <a:rPr sz="1600" b="1" i="0">
                <a:solidFill>
                  <a:srgbClr val="0B2545"/>
                </a:solidFill>
                <a:latin typeface="Calibri"/>
              </a:rPr>
              <a:t>trade-off antara efisiensi komputasi riil (latensi &lt;10 ms) dan akurasi generalisasi</a:t>
            </a:r>
            <a:r>
              <a:rPr sz="1600" b="0" i="0">
                <a:solidFill>
                  <a:srgbClr val="0B2545"/>
                </a:solidFill>
                <a:latin typeface="Calibri"/>
              </a:rPr>
              <a:t> lintas task BCI.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108960"/>
            <a:ext cx="2286000" cy="1371600"/>
          </a:xfrm>
          <a:prstGeom prst="roundRect">
            <a:avLst>
              <a:gd name="adj" fmla="val 6000"/>
            </a:avLst>
          </a:prstGeom>
          <a:solidFill>
            <a:srgbClr val="EEF4F7"/>
          </a:solidFill>
          <a:ln w="15875">
            <a:solidFill>
              <a:srgbClr val="5B6B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337560"/>
            <a:ext cx="228600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2545"/>
                </a:solidFill>
                <a:latin typeface="Calibri"/>
              </a:rPr>
              <a:t>EEGMamba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77640"/>
            <a:ext cx="22860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5B6B7B"/>
                </a:solidFill>
                <a:latin typeface="Calibri"/>
              </a:rPr>
              <a:t>modalitas: EEG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3108960"/>
            <a:ext cx="2286000" cy="1371600"/>
          </a:xfrm>
          <a:prstGeom prst="roundRect">
            <a:avLst>
              <a:gd name="adj" fmla="val 6000"/>
            </a:avLst>
          </a:prstGeom>
          <a:solidFill>
            <a:srgbClr val="EEF4F7"/>
          </a:solidFill>
          <a:ln w="15875">
            <a:solidFill>
              <a:srgbClr val="5B6B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46120" y="3337560"/>
            <a:ext cx="228600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2545"/>
                </a:solidFill>
                <a:latin typeface="Calibri"/>
              </a:rPr>
              <a:t>POSSM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3977640"/>
            <a:ext cx="22860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5B6B7B"/>
                </a:solidFill>
                <a:latin typeface="Calibri"/>
              </a:rPr>
              <a:t>modalitas: Spiking NHP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3108960"/>
            <a:ext cx="2286000" cy="1371600"/>
          </a:xfrm>
          <a:prstGeom prst="roundRect">
            <a:avLst>
              <a:gd name="adj" fmla="val 6000"/>
            </a:avLst>
          </a:prstGeom>
          <a:solidFill>
            <a:srgbClr val="EEF4F7"/>
          </a:solidFill>
          <a:ln w="15875">
            <a:solidFill>
              <a:srgbClr val="5B6B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52160" y="3337560"/>
            <a:ext cx="228600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2545"/>
                </a:solidFill>
                <a:latin typeface="Calibri"/>
              </a:rPr>
              <a:t>Energy-Guided
Mamba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3977640"/>
            <a:ext cx="22860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5B6B7B"/>
                </a:solidFill>
                <a:latin typeface="Calibri"/>
              </a:rPr>
              <a:t>modalitas: Topologi/EEG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229600" y="3520440"/>
            <a:ext cx="822960" cy="548640"/>
          </a:xfrm>
          <a:prstGeom prst="rightArrow">
            <a:avLst/>
          </a:prstGeom>
          <a:solidFill>
            <a:srgbClr val="F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189720" y="3063240"/>
            <a:ext cx="2514600" cy="1463040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35440" y="3246120"/>
            <a:ext cx="2423160" cy="11887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4A300"/>
                </a:solidFill>
                <a:latin typeface="Calibri"/>
              </a:rPr>
              <a:t>SINTESIS
SISTEMATIS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FFFFFF"/>
                </a:solidFill>
                <a:latin typeface="Calibri"/>
              </a:rPr>
              <a:t>(belum ada — kontribusi riset ini)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983480"/>
            <a:ext cx="11183112" cy="1280160"/>
          </a:xfrm>
          <a:prstGeom prst="roundRect">
            <a:avLst>
              <a:gd name="adj" fmla="val 6000"/>
            </a:avLst>
          </a:prstGeom>
          <a:solidFill>
            <a:srgbClr val="EEF4F7"/>
          </a:solidFill>
          <a:ln w="15875">
            <a:solidFill>
              <a:srgbClr val="13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5120640"/>
            <a:ext cx="10607040" cy="10058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3A0A6"/>
                </a:solidFill>
                <a:latin typeface="Calibri"/>
              </a:rPr>
              <a:t>Bukti urgensi:  </a:t>
            </a:r>
            <a:r>
              <a:rPr sz="1350" b="0" i="0">
                <a:solidFill>
                  <a:srgbClr val="0B2545"/>
                </a:solidFill>
                <a:latin typeface="Calibri"/>
              </a:rPr>
              <a:t>Arsitektur hibrida POSSM (Transformer–Mamba) mengklaim penurunan tajam waktu inferensi real-time, dan implementasi seperti 'Energy-Guided Brain Topology Mamba' (2025) menunjukkan tren berkembang pesat </a:t>
            </a:r>
            <a:r>
              <a:rPr sz="1350" b="1" i="0">
                <a:solidFill>
                  <a:srgbClr val="C44536"/>
                </a:solidFill>
                <a:latin typeface="Calibri"/>
              </a:rPr>
              <a:t>namun kelemahannya belum pernah disintesis.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B7B"/>
                </a:solidFill>
                <a:latin typeface="Calibri"/>
              </a:rPr>
              <a:t>Proposal Disertasi  ·  </a:t>
            </a:r>
            <a:r>
              <a:rPr sz="800" b="0" i="1">
                <a:solidFill>
                  <a:srgbClr val="5B6B7B"/>
                </a:solidFill>
                <a:latin typeface="Calibri"/>
              </a:rPr>
              <a:t>Neural Decoding BCI berbasis State-Space Models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510528"/>
            <a:ext cx="16459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B7B"/>
                </a:solidFill>
                <a:latin typeface="Calibri"/>
              </a:rPr>
              <a:t>Rolly M. Awangga · Tel-U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3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78992"/>
          </a:xfrm>
          <a:prstGeom prst="rect">
            <a:avLst/>
          </a:prstGeom>
          <a:solidFill>
            <a:srgbClr val="F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3A0A6"/>
                </a:solidFill>
                <a:latin typeface="Calibri"/>
              </a:rPr>
              <a:t>POSISI TERHADAP LITERATUR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2336"/>
            <a:ext cx="10789920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Tinjauan Terdahulu &amp; Klaim Kebaruan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146304"/>
            <a:ext cx="6400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B7B"/>
                </a:solidFill>
                <a:latin typeface="Calibri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11183112" cy="4572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325880"/>
            <a:ext cx="210312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Tinjauan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1325880"/>
            <a:ext cx="301752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Cakupan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1325880"/>
            <a:ext cx="384048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Keterbatasan (Gap)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04120" y="1325880"/>
            <a:ext cx="1490472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Selisih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783080"/>
            <a:ext cx="11183112" cy="960120"/>
          </a:xfrm>
          <a:prstGeom prst="rect">
            <a:avLst/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1783080"/>
            <a:ext cx="2103120" cy="9601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2545"/>
                </a:solidFill>
                <a:latin typeface="Calibri"/>
              </a:rPr>
              <a:t>MDPI (2025)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1783080"/>
            <a:ext cx="3017520" cy="9601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B2545"/>
                </a:solidFill>
                <a:latin typeface="Calibri"/>
              </a:rPr>
              <a:t>Tren &amp; limitasi riset BCI berbasis Transformer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1783080"/>
            <a:ext cx="3840480" cy="9601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5B6B7B"/>
                </a:solidFill>
                <a:latin typeface="Calibri"/>
              </a:rPr>
              <a:t>Stagnan di dalam framework Transformer; tak menyinggung transisi ke SSM/Mamba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22408" y="2075688"/>
            <a:ext cx="1453896" cy="310896"/>
          </a:xfrm>
          <a:prstGeom prst="roundRect">
            <a:avLst>
              <a:gd name="adj" fmla="val 50000"/>
            </a:avLst>
          </a:prstGeom>
          <a:solidFill>
            <a:srgbClr val="F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700" bIns="12700" rtlCol="0" anchor="ctr"/>
          <a:lstStyle/>
          <a:p>
            <a:pPr algn="ctr"/>
            <a:r>
              <a:rPr sz="950" b="1">
                <a:solidFill>
                  <a:srgbClr val="0B2545"/>
                </a:solidFill>
                <a:latin typeface="Calibri"/>
              </a:rPr>
              <a:t>BEDA FRAMEWORK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743200"/>
            <a:ext cx="11183112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2743200"/>
            <a:ext cx="2103120" cy="9601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2545"/>
                </a:solidFill>
                <a:latin typeface="Calibri"/>
              </a:rPr>
              <a:t>IntechOpen (2026)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2743200"/>
            <a:ext cx="3017520" cy="9601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B2545"/>
                </a:solidFill>
                <a:latin typeface="Calibri"/>
              </a:rPr>
              <a:t>Biosensing → AI-powered decoding (multimodal)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2743200"/>
            <a:ext cx="3840480" cy="9601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5B6B7B"/>
                </a:solidFill>
                <a:latin typeface="Calibri"/>
              </a:rPr>
              <a:t>Cakupan terlalu luas; gagal mengagregasi efisiensi inferensi level mikro (SSM)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22408" y="3035808"/>
            <a:ext cx="1453896" cy="310896"/>
          </a:xfrm>
          <a:prstGeom prst="roundRect">
            <a:avLst>
              <a:gd name="adj" fmla="val 50000"/>
            </a:avLst>
          </a:prstGeom>
          <a:solidFill>
            <a:srgbClr val="F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700" bIns="12700" rtlCol="0" anchor="ctr"/>
          <a:lstStyle/>
          <a:p>
            <a:pPr algn="ctr"/>
            <a:r>
              <a:rPr sz="950" b="1">
                <a:solidFill>
                  <a:srgbClr val="0B2545"/>
                </a:solidFill>
                <a:latin typeface="Calibri"/>
              </a:rPr>
              <a:t>BEDA FOKUS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703320"/>
            <a:ext cx="11183112" cy="960120"/>
          </a:xfrm>
          <a:prstGeom prst="rect">
            <a:avLst/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3703320"/>
            <a:ext cx="2103120" cy="9601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2545"/>
                </a:solidFill>
                <a:latin typeface="Calibri"/>
              </a:rPr>
              <a:t>The Innovation (2026)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3703320"/>
            <a:ext cx="3017520" cy="9601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B2545"/>
                </a:solidFill>
                <a:latin typeface="Calibri"/>
              </a:rPr>
              <a:t>Generative AI untuk dekoding BCI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3703320"/>
            <a:ext cx="3840480" cy="9601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5B6B7B"/>
                </a:solidFill>
                <a:latin typeface="Calibri"/>
              </a:rPr>
              <a:t>Fiksasi pada akurasi rekonstruksi (software); abai pada arsitektur boros daya di edge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22408" y="3995928"/>
            <a:ext cx="1453896" cy="310896"/>
          </a:xfrm>
          <a:prstGeom prst="roundRect">
            <a:avLst>
              <a:gd name="adj" fmla="val 50000"/>
            </a:avLst>
          </a:prstGeom>
          <a:solidFill>
            <a:srgbClr val="F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700" bIns="12700" rtlCol="0" anchor="ctr"/>
          <a:lstStyle/>
          <a:p>
            <a:pPr algn="ctr"/>
            <a:r>
              <a:rPr sz="950" b="1">
                <a:solidFill>
                  <a:srgbClr val="0B2545"/>
                </a:solidFill>
                <a:latin typeface="Calibri"/>
              </a:rPr>
              <a:t>BEDA METODE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773168"/>
            <a:ext cx="11183112" cy="868680"/>
          </a:xfrm>
          <a:prstGeom prst="roundRect">
            <a:avLst>
              <a:gd name="adj" fmla="val 6000"/>
            </a:avLst>
          </a:prstGeom>
          <a:solidFill>
            <a:srgbClr val="13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40" y="4846320"/>
            <a:ext cx="10634472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B2545"/>
                </a:solidFill>
                <a:latin typeface="Calibri"/>
              </a:rPr>
              <a:t>KEBARUAN: 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Belum ada systematic review yang khusus mensintesis arsitektur SSM/Mamba untuk neural decoding BCI. Riset ini menjadi </a:t>
            </a:r>
            <a:r>
              <a:rPr sz="1350" b="1" i="0">
                <a:solidFill>
                  <a:srgbClr val="0B2545"/>
                </a:solidFill>
                <a:latin typeface="Calibri"/>
              </a:rPr>
              <a:t>tinjauan sistematis komprehensif pertama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 pada irisan tersebut.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B7B"/>
                </a:solidFill>
                <a:latin typeface="Calibri"/>
              </a:rPr>
              <a:t>Proposal Disertasi  ·  </a:t>
            </a:r>
            <a:r>
              <a:rPr sz="800" b="0" i="1">
                <a:solidFill>
                  <a:srgbClr val="5B6B7B"/>
                </a:solidFill>
                <a:latin typeface="Calibri"/>
              </a:rPr>
              <a:t>Neural Decoding BCI berbasis State-Space Models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510528"/>
            <a:ext cx="16459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B7B"/>
                </a:solidFill>
                <a:latin typeface="Calibri"/>
              </a:rPr>
              <a:t>Rolly M. Awangga · Tel-U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3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78992"/>
          </a:xfrm>
          <a:prstGeom prst="rect">
            <a:avLst/>
          </a:prstGeom>
          <a:solidFill>
            <a:srgbClr val="F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3A0A6"/>
                </a:solidFill>
                <a:latin typeface="Calibri"/>
              </a:rPr>
              <a:t>PERTANYAAN PENELITIAN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2336"/>
            <a:ext cx="10789920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Research Questions (1 Primary + 3 Secondary)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146304"/>
            <a:ext cx="6400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B7B"/>
                </a:solidFill>
                <a:latin typeface="Calibri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25880"/>
            <a:ext cx="5486400" cy="2240280"/>
          </a:xfrm>
          <a:prstGeom prst="roundRect">
            <a:avLst>
              <a:gd name="adj" fmla="val 6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325880"/>
            <a:ext cx="128016" cy="22402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1508760"/>
            <a:ext cx="182880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0B2545"/>
                </a:solidFill>
                <a:latin typeface="Calibri"/>
              </a:rPr>
              <a:t>RQ1 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94560" y="1581912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700" bIns="127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PRIMARY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194560"/>
            <a:ext cx="4937760" cy="12801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B2545"/>
                </a:solidFill>
                <a:latin typeface="Calibri"/>
              </a:rPr>
              <a:t>Sejauh mana arsitektur SSM (Mamba &amp; hibrida) mencapai efisiensi 'mangkus' (latensi &lt;10 ms) tanpa mengorbankan akurasi generalisasi lintas modalitas, dibanding arsitektur sebelumnya?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325880"/>
            <a:ext cx="5486400" cy="2240280"/>
          </a:xfrm>
          <a:prstGeom prst="roundRect">
            <a:avLst>
              <a:gd name="adj" fmla="val 6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99632" y="1325880"/>
            <a:ext cx="128016" cy="2240280"/>
          </a:xfrm>
          <a:prstGeom prst="rect">
            <a:avLst/>
          </a:prstGeom>
          <a:solidFill>
            <a:srgbClr val="13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1508760"/>
            <a:ext cx="182880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3A0A6"/>
                </a:solidFill>
                <a:latin typeface="Calibri"/>
              </a:rPr>
              <a:t>RQ2  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91272" y="1581912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13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700" bIns="127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SECONDARY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194560"/>
            <a:ext cx="4937760" cy="12801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B2545"/>
                </a:solidFill>
                <a:latin typeface="Calibri"/>
              </a:rPr>
              <a:t>Bagaimana variasi performa akurasi model Mamba/S4 ketika diimplementasikan pada modalitas sinyal berbeda (spiking NHP, EEG, fMRI)?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794760"/>
            <a:ext cx="5486400" cy="2240280"/>
          </a:xfrm>
          <a:prstGeom prst="roundRect">
            <a:avLst>
              <a:gd name="adj" fmla="val 6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3794760"/>
            <a:ext cx="128016" cy="2240280"/>
          </a:xfrm>
          <a:prstGeom prst="rect">
            <a:avLst/>
          </a:prstGeom>
          <a:solidFill>
            <a:srgbClr val="13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5528" y="3977640"/>
            <a:ext cx="182880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3A0A6"/>
                </a:solidFill>
                <a:latin typeface="Calibri"/>
              </a:rPr>
              <a:t>RQ3 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94560" y="4050792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13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700" bIns="127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SECONDARY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" y="4663440"/>
            <a:ext cx="4937760" cy="12801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B2545"/>
                </a:solidFill>
                <a:latin typeface="Calibri"/>
              </a:rPr>
              <a:t>Bagaimana konfigurasi arsitektur SSM (backbone murni vs hibrida Mamba-Transformer seperti POSSM) dan keunggulannya dibanding baseline konvensional?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3794760"/>
            <a:ext cx="5486400" cy="2240280"/>
          </a:xfrm>
          <a:prstGeom prst="roundRect">
            <a:avLst>
              <a:gd name="adj" fmla="val 6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99632" y="3794760"/>
            <a:ext cx="128016" cy="2240280"/>
          </a:xfrm>
          <a:prstGeom prst="rect">
            <a:avLst/>
          </a:prstGeom>
          <a:solidFill>
            <a:srgbClr val="13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92240" y="3977640"/>
            <a:ext cx="182880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3A0A6"/>
                </a:solidFill>
                <a:latin typeface="Calibri"/>
              </a:rPr>
              <a:t>RQ4  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91272" y="4050792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13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700" bIns="127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SECONDARY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663440"/>
            <a:ext cx="4937760" cy="12801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B2545"/>
                </a:solidFill>
                <a:latin typeface="Calibri"/>
              </a:rPr>
              <a:t>Apa bukti empiris parameter 'mangkus' Mamba (memori, throughput, latensi &lt;10 ms) untuk kelayakan neuro-prostetik real-time di edge devices?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B7B"/>
                </a:solidFill>
                <a:latin typeface="Calibri"/>
              </a:rPr>
              <a:t>Proposal Disertasi  ·  </a:t>
            </a:r>
            <a:r>
              <a:rPr sz="800" b="0" i="1">
                <a:solidFill>
                  <a:srgbClr val="5B6B7B"/>
                </a:solidFill>
                <a:latin typeface="Calibri"/>
              </a:rPr>
              <a:t>Neural Decoding BCI berbasis State-Space Models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510528"/>
            <a:ext cx="16459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B7B"/>
                </a:solidFill>
                <a:latin typeface="Calibri"/>
              </a:rPr>
              <a:t>Rolly M. Awangga · Tel-U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3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78992"/>
          </a:xfrm>
          <a:prstGeom prst="rect">
            <a:avLst/>
          </a:prstGeom>
          <a:solidFill>
            <a:srgbClr val="F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3A0A6"/>
                </a:solidFill>
                <a:latin typeface="Calibri"/>
              </a:rPr>
              <a:t>KERANGKA KONSEPTUAL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2336"/>
            <a:ext cx="10789920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Definisi PICO &amp; Terminologi Kanonik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146304"/>
            <a:ext cx="6400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B7B"/>
                </a:solidFill>
                <a:latin typeface="Calibri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25880"/>
            <a:ext cx="2697480" cy="2834640"/>
          </a:xfrm>
          <a:prstGeom prst="roundRect">
            <a:avLst>
              <a:gd name="adj" fmla="val 6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440180" y="1581912"/>
            <a:ext cx="822960" cy="82296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40180" y="1581912"/>
            <a:ext cx="822960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60320"/>
            <a:ext cx="269748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2545"/>
                </a:solidFill>
                <a:latin typeface="Calibri"/>
              </a:rPr>
              <a:t>Populasi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17520"/>
            <a:ext cx="2331720" cy="1097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B2545"/>
                </a:solidFill>
                <a:latin typeface="Calibri"/>
              </a:rPr>
              <a:t>Sinyal saraf pengguna BCI lintas modalitas (EEG, fMRI, NHP spiking) dalam tugas neural decoding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1325880"/>
            <a:ext cx="2697480" cy="2834640"/>
          </a:xfrm>
          <a:prstGeom prst="roundRect">
            <a:avLst>
              <a:gd name="adj" fmla="val 6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274820" y="1581912"/>
            <a:ext cx="822960" cy="822960"/>
          </a:xfrm>
          <a:prstGeom prst="ellipse">
            <a:avLst/>
          </a:prstGeom>
          <a:solidFill>
            <a:srgbClr val="13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74820" y="1581912"/>
            <a:ext cx="822960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560320"/>
            <a:ext cx="269748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3A0A6"/>
                </a:solidFill>
                <a:latin typeface="Calibri"/>
              </a:rPr>
              <a:t>Intervensi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017520"/>
            <a:ext cx="2331720" cy="1097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B2545"/>
                </a:solidFill>
                <a:latin typeface="Calibri"/>
              </a:rPr>
              <a:t>Algoritma State-Space Models (Mamba, S4) dan arsitektur hibridanya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1325880"/>
            <a:ext cx="2697480" cy="2834640"/>
          </a:xfrm>
          <a:prstGeom prst="roundRect">
            <a:avLst>
              <a:gd name="adj" fmla="val 6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109460" y="1581912"/>
            <a:ext cx="822960" cy="822960"/>
          </a:xfrm>
          <a:prstGeom prst="ellipse">
            <a:avLst/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09460" y="1581912"/>
            <a:ext cx="822960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2560320"/>
            <a:ext cx="269748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5B6B7B"/>
                </a:solidFill>
                <a:latin typeface="Calibri"/>
              </a:rPr>
              <a:t>Komparasi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017520"/>
            <a:ext cx="2331720" cy="1097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B2545"/>
                </a:solidFill>
                <a:latin typeface="Calibri"/>
              </a:rPr>
              <a:t>Arsitektur deep learning sebelumnya (Transformer, CNN, RNN) atau tanpa pembanding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6840" y="1325880"/>
            <a:ext cx="2697480" cy="2834640"/>
          </a:xfrm>
          <a:prstGeom prst="roundRect">
            <a:avLst>
              <a:gd name="adj" fmla="val 6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944100" y="1581912"/>
            <a:ext cx="822960" cy="822960"/>
          </a:xfrm>
          <a:prstGeom prst="ellipse">
            <a:avLst/>
          </a:prstGeom>
          <a:solidFill>
            <a:srgbClr val="F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944100" y="1581912"/>
            <a:ext cx="822960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2560320"/>
            <a:ext cx="269748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4A300"/>
                </a:solidFill>
                <a:latin typeface="Calibri"/>
              </a:rPr>
              <a:t>Outcome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3017520"/>
            <a:ext cx="2331720" cy="1097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B2545"/>
                </a:solidFill>
                <a:latin typeface="Calibri"/>
              </a:rPr>
              <a:t>Akurasi dekoding (WAJIB) + metrik efisiensi komputasi / latensi &lt;10 ms (OPSIONAL)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526280"/>
            <a:ext cx="11183112" cy="1691640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40" y="4663440"/>
            <a:ext cx="106070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4A300"/>
                </a:solidFill>
                <a:latin typeface="Calibri"/>
              </a:rPr>
              <a:t>Terminologi Kanonik: 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Structured State-Space Sequence Models (SSMs)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074920"/>
            <a:ext cx="10607040" cy="1097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Kelas arsitektur deep learning pemodelan sekuensial dengan parameterisasi ruang-keadaan kontinu → kompleksitas LINEAR terhadap sekuens panjang, jauh lebih hemat memori dibanding atensi kuadratik Transformer.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1">
                <a:solidFill>
                  <a:srgbClr val="5B6B7B"/>
                </a:solidFill>
                <a:latin typeface="Calibri"/>
              </a:rPr>
              <a:t>Alternatif ditolak: </a:t>
            </a:r>
            <a:r>
              <a:rPr sz="1150" b="0" i="1">
                <a:solidFill>
                  <a:srgbClr val="5B6B7B"/>
                </a:solidFill>
                <a:latin typeface="Calibri"/>
              </a:rPr>
              <a:t>Kalman Filter (kontrol linear klasik) &amp; RNN (pemrosesan strictly sekuensial, vanishing gradient).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B7B"/>
                </a:solidFill>
                <a:latin typeface="Calibri"/>
              </a:rPr>
              <a:t>Proposal Disertasi  ·  </a:t>
            </a:r>
            <a:r>
              <a:rPr sz="800" b="0" i="1">
                <a:solidFill>
                  <a:srgbClr val="5B6B7B"/>
                </a:solidFill>
                <a:latin typeface="Calibri"/>
              </a:rPr>
              <a:t>Neural Decoding BCI berbasis State-Space Models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6510528"/>
            <a:ext cx="16459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B7B"/>
                </a:solidFill>
                <a:latin typeface="Calibri"/>
              </a:rPr>
              <a:t>Rolly M. Awangga · Tel-U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3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78992"/>
          </a:xfrm>
          <a:prstGeom prst="rect">
            <a:avLst/>
          </a:prstGeom>
          <a:solidFill>
            <a:srgbClr val="F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3A0A6"/>
                </a:solidFill>
                <a:latin typeface="Calibri"/>
              </a:rPr>
              <a:t>RUANG LINGKUP &amp; KELAYAKAN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2336"/>
            <a:ext cx="10789920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Scope Filters &amp; Validasi FINER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146304"/>
            <a:ext cx="6400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B7B"/>
                </a:solidFill>
                <a:latin typeface="Calibri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25880"/>
            <a:ext cx="5303520" cy="4297680"/>
          </a:xfrm>
          <a:prstGeom prst="roundRect">
            <a:avLst>
              <a:gd name="adj" fmla="val 6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152704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700" bIns="127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RUANG LINGKUP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148840"/>
            <a:ext cx="109728" cy="502920"/>
          </a:xfrm>
          <a:prstGeom prst="rect">
            <a:avLst/>
          </a:prstGeom>
          <a:solidFill>
            <a:srgbClr val="13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2103120"/>
            <a:ext cx="466344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2545"/>
                </a:solidFill>
                <a:latin typeface="Calibri"/>
              </a:rPr>
              <a:t>Rentang Tahun:  </a:t>
            </a:r>
            <a:r>
              <a:rPr sz="1300" b="0" i="0">
                <a:solidFill>
                  <a:srgbClr val="5B6B7B"/>
                </a:solidFill>
                <a:latin typeface="Calibri"/>
              </a:rPr>
              <a:t>2021–2027 (era S4 → Mamba)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862072"/>
            <a:ext cx="109728" cy="502920"/>
          </a:xfrm>
          <a:prstGeom prst="rect">
            <a:avLst/>
          </a:prstGeom>
          <a:solidFill>
            <a:srgbClr val="13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2816352"/>
            <a:ext cx="466344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2545"/>
                </a:solidFill>
                <a:latin typeface="Calibri"/>
              </a:rPr>
              <a:t>Geografis:  </a:t>
            </a:r>
            <a:r>
              <a:rPr sz="1300" b="0" i="0">
                <a:solidFill>
                  <a:srgbClr val="5B6B7B"/>
                </a:solidFill>
                <a:latin typeface="Calibri"/>
              </a:rPr>
              <a:t>Global (tanpa restriksi)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575304"/>
            <a:ext cx="109728" cy="502920"/>
          </a:xfrm>
          <a:prstGeom prst="rect">
            <a:avLst/>
          </a:prstGeom>
          <a:solidFill>
            <a:srgbClr val="13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529584"/>
            <a:ext cx="466344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2545"/>
                </a:solidFill>
                <a:latin typeface="Calibri"/>
              </a:rPr>
              <a:t>Sektor:  </a:t>
            </a:r>
            <a:r>
              <a:rPr sz="1300" b="0" i="0">
                <a:solidFill>
                  <a:srgbClr val="5B6B7B"/>
                </a:solidFill>
                <a:latin typeface="Calibri"/>
              </a:rPr>
              <a:t>Computer Science · Biomedis · Neurosains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288536"/>
            <a:ext cx="109728" cy="502920"/>
          </a:xfrm>
          <a:prstGeom prst="rect">
            <a:avLst/>
          </a:prstGeom>
          <a:solidFill>
            <a:srgbClr val="13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4242816"/>
            <a:ext cx="466344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2545"/>
                </a:solidFill>
                <a:latin typeface="Calibri"/>
              </a:rPr>
              <a:t>Bahasa:  </a:t>
            </a:r>
            <a:r>
              <a:rPr sz="1300" b="0" i="0">
                <a:solidFill>
                  <a:srgbClr val="5B6B7B"/>
                </a:solidFill>
                <a:latin typeface="Calibri"/>
              </a:rPr>
              <a:t>English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001768"/>
            <a:ext cx="109728" cy="502920"/>
          </a:xfrm>
          <a:prstGeom prst="rect">
            <a:avLst/>
          </a:prstGeom>
          <a:solidFill>
            <a:srgbClr val="13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4956048"/>
            <a:ext cx="466344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2545"/>
                </a:solidFill>
                <a:latin typeface="Calibri"/>
              </a:rPr>
              <a:t>Tipe Dokumen:  </a:t>
            </a:r>
            <a:r>
              <a:rPr sz="1300" b="0" i="0">
                <a:solidFill>
                  <a:srgbClr val="5B6B7B"/>
                </a:solidFill>
                <a:latin typeface="Calibri"/>
              </a:rPr>
              <a:t>Jurnal peer-reviewed + Prosiding konferensi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89320" y="1325880"/>
            <a:ext cx="5696712" cy="4297680"/>
          </a:xfrm>
          <a:prstGeom prst="roundRect">
            <a:avLst>
              <a:gd name="adj" fmla="val 6000"/>
            </a:avLst>
          </a:prstGeom>
          <a:solidFill>
            <a:srgbClr val="EEF4F7"/>
          </a:solidFill>
          <a:ln w="1587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217920" y="1527048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700" bIns="127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VALIDASI FINER — LULUS (PASS)</a:t>
            </a:r>
          </a:p>
        </p:txBody>
      </p:sp>
      <p:sp>
        <p:nvSpPr>
          <p:cNvPr id="23" name="Oval 22"/>
          <p:cNvSpPr/>
          <p:nvPr/>
        </p:nvSpPr>
        <p:spPr>
          <a:xfrm>
            <a:off x="6217920" y="2103120"/>
            <a:ext cx="502920" cy="502920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7920" y="2103120"/>
            <a:ext cx="502920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084832"/>
            <a:ext cx="4663440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B2545"/>
                </a:solidFill>
                <a:latin typeface="Calibri"/>
              </a:rPr>
              <a:t>Feasible:  </a:t>
            </a:r>
            <a:r>
              <a:rPr sz="1200" b="0" i="0">
                <a:solidFill>
                  <a:srgbClr val="5B6B7B"/>
                </a:solidFill>
                <a:latin typeface="Calibri"/>
              </a:rPr>
              <a:t>30–50+ literatur primer relevan (EEGMamba, POSSM, MSResBiMamba, dll.)</a:t>
            </a:r>
          </a:p>
        </p:txBody>
      </p:sp>
      <p:sp>
        <p:nvSpPr>
          <p:cNvPr id="26" name="Oval 25"/>
          <p:cNvSpPr/>
          <p:nvPr/>
        </p:nvSpPr>
        <p:spPr>
          <a:xfrm>
            <a:off x="6217920" y="2816352"/>
            <a:ext cx="502920" cy="502920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17920" y="2816352"/>
            <a:ext cx="502920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798064"/>
            <a:ext cx="4663440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B2545"/>
                </a:solidFill>
                <a:latin typeface="Calibri"/>
              </a:rPr>
              <a:t>Interesting:  </a:t>
            </a:r>
            <a:r>
              <a:rPr sz="1200" b="0" i="0">
                <a:solidFill>
                  <a:srgbClr val="5B6B7B"/>
                </a:solidFill>
                <a:latin typeface="Calibri"/>
              </a:rPr>
              <a:t>Krusial bagi pengembang hardware BCI &amp; neuro-engineer</a:t>
            </a:r>
          </a:p>
        </p:txBody>
      </p:sp>
      <p:sp>
        <p:nvSpPr>
          <p:cNvPr id="29" name="Oval 28"/>
          <p:cNvSpPr/>
          <p:nvPr/>
        </p:nvSpPr>
        <p:spPr>
          <a:xfrm>
            <a:off x="6217920" y="3529584"/>
            <a:ext cx="502920" cy="502920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17920" y="3529584"/>
            <a:ext cx="502920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511296"/>
            <a:ext cx="4663440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B2545"/>
                </a:solidFill>
                <a:latin typeface="Calibri"/>
              </a:rPr>
              <a:t>Novel:  </a:t>
            </a:r>
            <a:r>
              <a:rPr sz="1200" b="0" i="0">
                <a:solidFill>
                  <a:srgbClr val="5B6B7B"/>
                </a:solidFill>
                <a:latin typeface="Calibri"/>
              </a:rPr>
              <a:t>Sintesis pertama khusus SSM/Mamba — menambal blind-spot review terdahulu</a:t>
            </a:r>
          </a:p>
        </p:txBody>
      </p:sp>
      <p:sp>
        <p:nvSpPr>
          <p:cNvPr id="32" name="Oval 31"/>
          <p:cNvSpPr/>
          <p:nvPr/>
        </p:nvSpPr>
        <p:spPr>
          <a:xfrm>
            <a:off x="6217920" y="4242816"/>
            <a:ext cx="502920" cy="502920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17920" y="4242816"/>
            <a:ext cx="502920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224528"/>
            <a:ext cx="4663440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B2545"/>
                </a:solidFill>
                <a:latin typeface="Calibri"/>
              </a:rPr>
              <a:t>Ethical:  </a:t>
            </a:r>
            <a:r>
              <a:rPr sz="1200" b="0" i="0">
                <a:solidFill>
                  <a:srgbClr val="5B6B7B"/>
                </a:solidFill>
                <a:latin typeface="Calibri"/>
              </a:rPr>
              <a:t>Risiko minim (studi literatur); patuh lisensi data sekunder</a:t>
            </a:r>
          </a:p>
        </p:txBody>
      </p:sp>
      <p:sp>
        <p:nvSpPr>
          <p:cNvPr id="35" name="Oval 34"/>
          <p:cNvSpPr/>
          <p:nvPr/>
        </p:nvSpPr>
        <p:spPr>
          <a:xfrm>
            <a:off x="6217920" y="4956048"/>
            <a:ext cx="502920" cy="502920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17920" y="4956048"/>
            <a:ext cx="502920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937760"/>
            <a:ext cx="4663440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B2545"/>
                </a:solidFill>
                <a:latin typeface="Calibri"/>
              </a:rPr>
              <a:t>Relevant:  </a:t>
            </a:r>
            <a:r>
              <a:rPr sz="1200" b="0" i="0">
                <a:solidFill>
                  <a:srgbClr val="5B6B7B"/>
                </a:solidFill>
                <a:latin typeface="Calibri"/>
              </a:rPr>
              <a:t>Mendukung SDG 3 (Kesehatan) &amp; SDG 9 (Inovasi &amp; Infrastruktur)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B7B"/>
                </a:solidFill>
                <a:latin typeface="Calibri"/>
              </a:rPr>
              <a:t>Proposal Disertasi  ·  </a:t>
            </a:r>
            <a:r>
              <a:rPr sz="800" b="0" i="1">
                <a:solidFill>
                  <a:srgbClr val="5B6B7B"/>
                </a:solidFill>
                <a:latin typeface="Calibri"/>
              </a:rPr>
              <a:t>Neural Decoding BCI berbasis State-Space Models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6510528"/>
            <a:ext cx="16459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B7B"/>
                </a:solidFill>
                <a:latin typeface="Calibri"/>
              </a:rPr>
              <a:t>Rolly M. Awangga · Tel-U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3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78992"/>
          </a:xfrm>
          <a:prstGeom prst="rect">
            <a:avLst/>
          </a:prstGeom>
          <a:solidFill>
            <a:srgbClr val="F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3A0A6"/>
                </a:solidFill>
                <a:latin typeface="Calibri"/>
              </a:rPr>
              <a:t>METODOLOGI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2336"/>
            <a:ext cx="10789920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Pipeline SLR Otomatis berbasis Agentic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146304"/>
            <a:ext cx="6400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B7B"/>
                </a:solidFill>
                <a:latin typeface="Calibri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1115568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0B2545"/>
                </a:solidFill>
                <a:latin typeface="Calibri"/>
              </a:rPr>
              <a:t>SLR dijalankan oleh sistem </a:t>
            </a:r>
            <a:r>
              <a:rPr sz="1400" b="1" i="0">
                <a:solidFill>
                  <a:srgbClr val="13A0A6"/>
                </a:solidFill>
                <a:latin typeface="Calibri"/>
              </a:rPr>
              <a:t>agentic AI</a:t>
            </a:r>
            <a:r>
              <a:rPr sz="1400" b="0" i="0">
                <a:solidFill>
                  <a:srgbClr val="0B2545"/>
                </a:solidFill>
                <a:latin typeface="Calibri"/>
              </a:rPr>
              <a:t> buatan sendiri (Go) — mengikuti protokol PRISMA, dengan dua agen reviewer (strict &amp; liberal) dan validasi reliabilitas Cohen's Kappa di setiap tahap.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377440"/>
            <a:ext cx="1188720" cy="1828800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606040"/>
            <a:ext cx="118872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M1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154680"/>
            <a:ext cx="118872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Foundation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66160"/>
            <a:ext cx="109728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13A0A6"/>
                </a:solidFill>
                <a:latin typeface="Calibri"/>
              </a:rPr>
              <a:t>Topik &amp; gap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73352" y="3236976"/>
            <a:ext cx="91440" cy="31750"/>
          </a:xfrm>
          <a:prstGeom prst="rect">
            <a:avLst/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746504" y="2377440"/>
            <a:ext cx="1188720" cy="1828800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746504" y="2606040"/>
            <a:ext cx="118872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M2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46504" y="3154680"/>
            <a:ext cx="118872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PICO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92224" y="3566160"/>
            <a:ext cx="109728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13A0A6"/>
                </a:solidFill>
                <a:latin typeface="Calibri"/>
              </a:rPr>
              <a:t>RQ · FINER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16936" y="3236976"/>
            <a:ext cx="91440" cy="31750"/>
          </a:xfrm>
          <a:prstGeom prst="rect">
            <a:avLst/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2990088" y="2377440"/>
            <a:ext cx="1188720" cy="1828800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90088" y="2606040"/>
            <a:ext cx="118872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M3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90088" y="3154680"/>
            <a:ext cx="118872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35808" y="3566160"/>
            <a:ext cx="109728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13A0A6"/>
                </a:solidFill>
                <a:latin typeface="Calibri"/>
              </a:rPr>
              <a:t>Database · string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60520" y="3236976"/>
            <a:ext cx="91440" cy="31750"/>
          </a:xfrm>
          <a:prstGeom prst="rect">
            <a:avLst/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233672" y="2377440"/>
            <a:ext cx="1188720" cy="1828800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33672" y="2606040"/>
            <a:ext cx="118872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M4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33672" y="3154680"/>
            <a:ext cx="118872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Mining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79392" y="3566160"/>
            <a:ext cx="109728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13A0A6"/>
                </a:solidFill>
                <a:latin typeface="Calibri"/>
              </a:rPr>
              <a:t>Dedup · audit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04104" y="3236976"/>
            <a:ext cx="91440" cy="31750"/>
          </a:xfrm>
          <a:prstGeom prst="rect">
            <a:avLst/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5477256" y="2377440"/>
            <a:ext cx="1188720" cy="1828800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77256" y="2606040"/>
            <a:ext cx="118872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M5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77256" y="3154680"/>
            <a:ext cx="118872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Screening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22976" y="3566160"/>
            <a:ext cx="109728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13A0A6"/>
                </a:solidFill>
                <a:latin typeface="Calibri"/>
              </a:rPr>
              <a:t>Kappa · eksklusi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47688" y="3236976"/>
            <a:ext cx="91440" cy="31750"/>
          </a:xfrm>
          <a:prstGeom prst="rect">
            <a:avLst/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720840" y="2377440"/>
            <a:ext cx="1188720" cy="1828800"/>
          </a:xfrm>
          <a:prstGeom prst="roundRect">
            <a:avLst>
              <a:gd name="adj" fmla="val 6000"/>
            </a:avLst>
          </a:prstGeom>
          <a:solidFill>
            <a:srgbClr val="F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720840" y="2606040"/>
            <a:ext cx="118872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0B2545"/>
                </a:solidFill>
                <a:latin typeface="Calibri"/>
              </a:rPr>
              <a:t>M6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3154680"/>
            <a:ext cx="118872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2545"/>
                </a:solidFill>
                <a:latin typeface="Calibri"/>
              </a:rPr>
              <a:t>Acquisition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3566160"/>
            <a:ext cx="109728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0B2545"/>
                </a:solidFill>
                <a:latin typeface="Calibri"/>
              </a:rPr>
              <a:t>Full-text · vektor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91272" y="3236976"/>
            <a:ext cx="91440" cy="31750"/>
          </a:xfrm>
          <a:prstGeom prst="rect">
            <a:avLst/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7964424" y="2377440"/>
            <a:ext cx="1188720" cy="1828800"/>
          </a:xfrm>
          <a:prstGeom prst="roundRect">
            <a:avLst>
              <a:gd name="adj" fmla="val 6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964424" y="2606040"/>
            <a:ext cx="118872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5B6B7B"/>
                </a:solidFill>
                <a:latin typeface="Calibri"/>
              </a:rPr>
              <a:t>M7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64424" y="3154680"/>
            <a:ext cx="118872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B6B7B"/>
                </a:solidFill>
                <a:latin typeface="Calibri"/>
              </a:rPr>
              <a:t>Extraction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10144" y="3566160"/>
            <a:ext cx="109728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B7B"/>
                </a:solidFill>
                <a:latin typeface="Calibri"/>
              </a:rPr>
              <a:t>Ekstraksi data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34856" y="3236976"/>
            <a:ext cx="91440" cy="31750"/>
          </a:xfrm>
          <a:prstGeom prst="rect">
            <a:avLst/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9208008" y="2377440"/>
            <a:ext cx="1188720" cy="1828800"/>
          </a:xfrm>
          <a:prstGeom prst="roundRect">
            <a:avLst>
              <a:gd name="adj" fmla="val 6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208008" y="2606040"/>
            <a:ext cx="118872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5B6B7B"/>
                </a:solidFill>
                <a:latin typeface="Calibri"/>
              </a:rPr>
              <a:t>M8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08008" y="3154680"/>
            <a:ext cx="118872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B6B7B"/>
                </a:solidFill>
                <a:latin typeface="Calibri"/>
              </a:rPr>
              <a:t>Synthesis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53728" y="3566160"/>
            <a:ext cx="109728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B7B"/>
                </a:solidFill>
                <a:latin typeface="Calibri"/>
              </a:rPr>
              <a:t>Sintesis · bibliometrik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378440" y="3236976"/>
            <a:ext cx="91440" cy="31750"/>
          </a:xfrm>
          <a:prstGeom prst="rect">
            <a:avLst/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10451592" y="2377440"/>
            <a:ext cx="1188720" cy="1828800"/>
          </a:xfrm>
          <a:prstGeom prst="roundRect">
            <a:avLst>
              <a:gd name="adj" fmla="val 6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451592" y="2606040"/>
            <a:ext cx="118872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5B6B7B"/>
                </a:solidFill>
                <a:latin typeface="Calibri"/>
              </a:rPr>
              <a:t>M9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51592" y="3154680"/>
            <a:ext cx="118872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B6B7B"/>
                </a:solidFill>
                <a:latin typeface="Calibri"/>
              </a:rPr>
              <a:t>Manuscript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497312" y="3566160"/>
            <a:ext cx="109728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B7B"/>
                </a:solidFill>
                <a:latin typeface="Calibri"/>
              </a:rPr>
              <a:t>Penyusunan naskah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4389120"/>
            <a:ext cx="109728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2545"/>
                </a:solidFill>
                <a:latin typeface="Calibri"/>
              </a:rPr>
              <a:t>■ </a:t>
            </a:r>
            <a:r>
              <a:rPr sz="1200" b="0" i="0">
                <a:solidFill>
                  <a:srgbClr val="5B6B7B"/>
                </a:solidFill>
                <a:latin typeface="Calibri"/>
              </a:rPr>
              <a:t>Selesai (M1–M5)   </a:t>
            </a:r>
            <a:r>
              <a:rPr sz="1200" b="1" i="0">
                <a:solidFill>
                  <a:srgbClr val="F4A300"/>
                </a:solidFill>
                <a:latin typeface="Calibri"/>
              </a:rPr>
              <a:t>■ </a:t>
            </a:r>
            <a:r>
              <a:rPr sz="1200" b="1" i="0">
                <a:solidFill>
                  <a:srgbClr val="5B6B7B"/>
                </a:solidFill>
                <a:latin typeface="Calibri"/>
              </a:rPr>
              <a:t>Sedang berjalan (M6 — posisi saat ini)   ■ </a:t>
            </a:r>
            <a:r>
              <a:rPr sz="1200" b="0" i="0">
                <a:solidFill>
                  <a:srgbClr val="5B6B7B"/>
                </a:solidFill>
                <a:latin typeface="Calibri"/>
              </a:rPr>
              <a:t>Rencana (M7–M9)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02920" y="4892040"/>
            <a:ext cx="11183112" cy="1371600"/>
          </a:xfrm>
          <a:prstGeom prst="roundRect">
            <a:avLst>
              <a:gd name="adj" fmla="val 6000"/>
            </a:avLst>
          </a:prstGeom>
          <a:solidFill>
            <a:srgbClr val="EEF4F7"/>
          </a:solidFill>
          <a:ln w="15875">
            <a:solidFill>
              <a:srgbClr val="13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77240" y="5029200"/>
            <a:ext cx="10607040" cy="10972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3A0A6"/>
                </a:solidFill>
                <a:latin typeface="Calibri"/>
              </a:rPr>
              <a:t>Keunggulan pendekatan:  </a:t>
            </a:r>
            <a:r>
              <a:rPr sz="1300" b="0" i="0">
                <a:solidFill>
                  <a:srgbClr val="0B2545"/>
                </a:solidFill>
                <a:latin typeface="Calibri"/>
              </a:rPr>
              <a:t>(1) reprodusibel &amp; terdokumentasi penuh di MongoDB;  (2) dual-reviewer otomatis dengan audit Kappa;  (3) full-text di-vektorisasi ke Qdrant untuk ekstraksi semantik (RAG) pada M7–M8.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B7B"/>
                </a:solidFill>
                <a:latin typeface="Calibri"/>
              </a:rPr>
              <a:t>Proposal Disertasi  ·  </a:t>
            </a:r>
            <a:r>
              <a:rPr sz="800" b="0" i="1">
                <a:solidFill>
                  <a:srgbClr val="5B6B7B"/>
                </a:solidFill>
                <a:latin typeface="Calibri"/>
              </a:rPr>
              <a:t>Neural Decoding BCI berbasis State-Space Models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58400" y="6510528"/>
            <a:ext cx="16459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B7B"/>
                </a:solidFill>
                <a:latin typeface="Calibri"/>
              </a:rPr>
              <a:t>Rolly M. Awangga · Tel-U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3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78992"/>
          </a:xfrm>
          <a:prstGeom prst="rect">
            <a:avLst/>
          </a:prstGeom>
          <a:solidFill>
            <a:srgbClr val="F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3A0A6"/>
                </a:solidFill>
                <a:latin typeface="Calibri"/>
              </a:rPr>
              <a:t>STRATEGI PENCARIAN (MODUL 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2336"/>
            <a:ext cx="10789920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Multi-Database + Grey Literature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146304"/>
            <a:ext cx="6400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B7B"/>
                </a:solidFill>
                <a:latin typeface="Calibri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2588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325880"/>
            <a:ext cx="2697480" cy="635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527048"/>
            <a:ext cx="233172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2545"/>
                </a:solidFill>
                <a:latin typeface="Calibri"/>
              </a:rPr>
              <a:t>Scopus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984248"/>
            <a:ext cx="233172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B7B"/>
                </a:solidFill>
                <a:latin typeface="Calibri"/>
              </a:rPr>
              <a:t>Jangkar multidisiplin tervalidasi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32588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37560" y="1325880"/>
            <a:ext cx="2697480" cy="63500"/>
          </a:xfrm>
          <a:prstGeom prst="rect">
            <a:avLst/>
          </a:prstGeom>
          <a:solidFill>
            <a:srgbClr val="13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20440" y="1527048"/>
            <a:ext cx="233172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3A0A6"/>
                </a:solidFill>
                <a:latin typeface="Calibri"/>
              </a:rPr>
              <a:t>IEEE Xplore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1984248"/>
            <a:ext cx="233172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B7B"/>
                </a:solidFill>
                <a:latin typeface="Calibri"/>
              </a:rPr>
              <a:t>Prosiding konferensi BCI/teknik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32588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72200" y="1325880"/>
            <a:ext cx="2697480" cy="63500"/>
          </a:xfrm>
          <a:prstGeom prst="rect">
            <a:avLst/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1527048"/>
            <a:ext cx="233172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5B6B7B"/>
                </a:solidFill>
                <a:latin typeface="Calibri"/>
              </a:rPr>
              <a:t>PubMed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984248"/>
            <a:ext cx="233172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B7B"/>
                </a:solidFill>
                <a:latin typeface="Calibri"/>
              </a:rPr>
              <a:t>Translasi klinis neuro-prostetik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40" y="132588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06840" y="1325880"/>
            <a:ext cx="2697480" cy="63500"/>
          </a:xfrm>
          <a:prstGeom prst="rect">
            <a:avLst/>
          </a:prstGeom>
          <a:solidFill>
            <a:srgbClr val="F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89720" y="1527048"/>
            <a:ext cx="233172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4A300"/>
                </a:solidFill>
                <a:latin typeface="Calibri"/>
              </a:rPr>
              <a:t>arXiv / Scholar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1984248"/>
            <a:ext cx="233172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B7B"/>
                </a:solidFill>
                <a:latin typeface="Calibri"/>
              </a:rPr>
              <a:t>Grey literature — preprint SSM terbaru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2880360"/>
            <a:ext cx="109728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2545"/>
                </a:solidFill>
                <a:latin typeface="Calibri"/>
              </a:rPr>
              <a:t>Keputusan: </a:t>
            </a:r>
            <a:r>
              <a:rPr sz="1250" b="0" i="1">
                <a:solidFill>
                  <a:srgbClr val="5B6B7B"/>
                </a:solidFill>
                <a:latin typeface="Calibri"/>
              </a:rPr>
              <a:t>Multi-database + grey literature wajib — SSM/Mamba terlalu baru (akhir 2023), index tradisional punya publication-lag bias.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383280"/>
            <a:ext cx="11183112" cy="2240280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3502152"/>
            <a:ext cx="1069848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4A300"/>
                </a:solidFill>
                <a:latin typeface="Calibri"/>
              </a:rPr>
              <a:t>Search String Inti (Scopus) — dieksekusi 2026-05-25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9319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50">
                <a:solidFill>
                  <a:srgbClr val="FFFFFF"/>
                </a:solidFill>
                <a:latin typeface="Consolas"/>
              </a:rPr>
              <a:t>TITLE-ABS-KEY( ("Brain-Computer Interface" OR "BCI" OR "neural decoding" OR "neural signal*" OR "EEG" OR "fMRI" OR "fNIRS" OR "ECoG" OR "intracortical spiking" ...) AND ("Structured State-Space Sequence Model*" OR "State-Space Model*" OR "SSM" OR "Mamba" OR "S4" OR "S4D" OR "POSSM") 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212080"/>
            <a:ext cx="1069848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1">
                <a:solidFill>
                  <a:srgbClr val="5B6B7B"/>
                </a:solidFill>
                <a:latin typeface="Calibri"/>
              </a:rPr>
              <a:t>Pre-validasi: </a:t>
            </a:r>
            <a:r>
              <a:rPr sz="1100" b="0" i="1">
                <a:solidFill>
                  <a:srgbClr val="5B6B7B"/>
                </a:solidFill>
                <a:latin typeface="Calibri"/>
              </a:rPr>
              <a:t>sintaks AMAN · trap-keyword (Mamba/S4/SSM) tersaring oleh AND konsep saraf · zona Goldilocks.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B7B"/>
                </a:solidFill>
                <a:latin typeface="Calibri"/>
              </a:rPr>
              <a:t>Proposal Disertasi  ·  </a:t>
            </a:r>
            <a:r>
              <a:rPr sz="800" b="0" i="1">
                <a:solidFill>
                  <a:srgbClr val="5B6B7B"/>
                </a:solidFill>
                <a:latin typeface="Calibri"/>
              </a:rPr>
              <a:t>Neural Decoding BCI berbasis State-Space Models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510528"/>
            <a:ext cx="16459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B7B"/>
                </a:solidFill>
                <a:latin typeface="Calibri"/>
              </a:rPr>
              <a:t>Rolly M. Awangga · Tel-U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3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78992"/>
          </a:xfrm>
          <a:prstGeom prst="rect">
            <a:avLst/>
          </a:prstGeom>
          <a:solidFill>
            <a:srgbClr val="F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3A0A6"/>
                </a:solidFill>
                <a:latin typeface="Calibri"/>
              </a:rPr>
              <a:t>HASIL IDENTIFIKASI (MODUL 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2336"/>
            <a:ext cx="10789920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Data Mining, Dedup &amp; Audit Kualitas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146304"/>
            <a:ext cx="6400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B7B"/>
                </a:solidFill>
                <a:latin typeface="Calibri"/>
              </a:rPr>
              <a:t>11</a:t>
            </a:r>
          </a:p>
        </p:txBody>
      </p:sp>
      <p:pic>
        <p:nvPicPr>
          <p:cNvPr id="9" name="Picture 8" descr="ye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6766560" cy="3383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463040"/>
            <a:ext cx="4160520" cy="841248"/>
          </a:xfrm>
          <a:prstGeom prst="roundRect">
            <a:avLst>
              <a:gd name="adj" fmla="val 6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498079" y="1463040"/>
            <a:ext cx="109728" cy="84124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399" y="1463040"/>
            <a:ext cx="1554480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B2545"/>
                </a:solidFill>
                <a:latin typeface="Calibri"/>
              </a:rPr>
              <a:t>433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79" y="1463040"/>
            <a:ext cx="2240280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B2545"/>
                </a:solidFill>
                <a:latin typeface="Calibri"/>
              </a:rPr>
              <a:t>Rekaman teridentifikasi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2414016"/>
            <a:ext cx="4160520" cy="841248"/>
          </a:xfrm>
          <a:prstGeom prst="roundRect">
            <a:avLst>
              <a:gd name="adj" fmla="val 6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498079" y="2414016"/>
            <a:ext cx="109728" cy="841248"/>
          </a:xfrm>
          <a:prstGeom prst="rect">
            <a:avLst/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399" y="2414016"/>
            <a:ext cx="1554480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5B6B7B"/>
                </a:solidFill>
                <a:latin typeface="Calibri"/>
              </a:rPr>
              <a:t>144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79" y="2414016"/>
            <a:ext cx="2240280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B2545"/>
                </a:solidFill>
                <a:latin typeface="Calibri"/>
              </a:rPr>
              <a:t>Duplikat dihapus (143 primer)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3364992"/>
            <a:ext cx="4160520" cy="841248"/>
          </a:xfrm>
          <a:prstGeom prst="roundRect">
            <a:avLst>
              <a:gd name="adj" fmla="val 6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498079" y="3364992"/>
            <a:ext cx="109728" cy="841248"/>
          </a:xfrm>
          <a:prstGeom prst="rect">
            <a:avLst/>
          </a:prstGeom>
          <a:solidFill>
            <a:srgbClr val="13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399" y="3364992"/>
            <a:ext cx="1554480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3A0A6"/>
                </a:solidFill>
                <a:latin typeface="Calibri"/>
              </a:rPr>
              <a:t>289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79" y="3364992"/>
            <a:ext cx="2240280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B2545"/>
                </a:solidFill>
                <a:latin typeface="Calibri"/>
              </a:rPr>
              <a:t>Unik untuk screening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4315968"/>
            <a:ext cx="4160520" cy="841248"/>
          </a:xfrm>
          <a:prstGeom prst="roundRect">
            <a:avLst>
              <a:gd name="adj" fmla="val 6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498079" y="4315968"/>
            <a:ext cx="109728" cy="841248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399" y="4315968"/>
            <a:ext cx="1554480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2E7D5B"/>
                </a:solidFill>
                <a:latin typeface="Calibri"/>
              </a:rPr>
              <a:t>0 / 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79" y="4315968"/>
            <a:ext cx="2240280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B2545"/>
                </a:solidFill>
                <a:latin typeface="Calibri"/>
              </a:rPr>
              <a:t>Missing DOI / Abstract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212080"/>
            <a:ext cx="11183112" cy="1051560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5321808"/>
            <a:ext cx="10607040" cy="8686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4A300"/>
                </a:solidFill>
                <a:latin typeface="Calibri"/>
              </a:rPr>
              <a:t>Komposisi: 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>Article 169 · Journal Article 98 · Conference paper 87 · Case Report 2.   </a:t>
            </a:r>
            <a:r>
              <a:rPr sz="1250" b="1" i="0">
                <a:solidFill>
                  <a:srgbClr val="F4A300"/>
                </a:solidFill>
                <a:latin typeface="Calibri"/>
              </a:rPr>
              <a:t>PICO-preview: 75% relevan → verdict PROCEED L3.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B7B"/>
                </a:solidFill>
                <a:latin typeface="Calibri"/>
              </a:rPr>
              <a:t>Proposal Disertasi  ·  </a:t>
            </a:r>
            <a:r>
              <a:rPr sz="800" b="0" i="1">
                <a:solidFill>
                  <a:srgbClr val="5B6B7B"/>
                </a:solidFill>
                <a:latin typeface="Calibri"/>
              </a:rPr>
              <a:t>Neural Decoding BCI berbasis State-Space Models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6510528"/>
            <a:ext cx="16459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B7B"/>
                </a:solidFill>
                <a:latin typeface="Calibri"/>
              </a:rPr>
              <a:t>Rolly M. Awangga · Tel-U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3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78992"/>
          </a:xfrm>
          <a:prstGeom prst="rect">
            <a:avLst/>
          </a:prstGeom>
          <a:solidFill>
            <a:srgbClr val="F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3A0A6"/>
                </a:solidFill>
                <a:latin typeface="Calibri"/>
              </a:rPr>
              <a:t>SCREENING DUA-REVIEWER (MODUL 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2336"/>
            <a:ext cx="10789920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Reliabilitas (Cohen's Kappa) &amp; PRISMA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146304"/>
            <a:ext cx="6400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B7B"/>
                </a:solidFill>
                <a:latin typeface="Calibri"/>
              </a:rPr>
              <a:t>12</a:t>
            </a:r>
          </a:p>
        </p:txBody>
      </p:sp>
      <p:pic>
        <p:nvPicPr>
          <p:cNvPr id="9" name="Picture 8" descr="kap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675120" cy="33375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60920" y="1417320"/>
            <a:ext cx="4297680" cy="841248"/>
          </a:xfrm>
          <a:prstGeom prst="roundRect">
            <a:avLst>
              <a:gd name="adj" fmla="val 6000"/>
            </a:avLst>
          </a:prstGeom>
          <a:solidFill>
            <a:srgbClr val="13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0" y="1417320"/>
            <a:ext cx="1280160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289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1417320"/>
            <a:ext cx="2560320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Disaring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9345168" y="2258568"/>
            <a:ext cx="329184" cy="182880"/>
          </a:xfrm>
          <a:prstGeom prst="downArrow">
            <a:avLst/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360920" y="2441448"/>
            <a:ext cx="4297680" cy="841248"/>
          </a:xfrm>
          <a:prstGeom prst="roundRect">
            <a:avLst>
              <a:gd name="adj" fmla="val 6000"/>
            </a:avLst>
          </a:prstGeom>
          <a:solidFill>
            <a:srgbClr val="C44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0" y="2441448"/>
            <a:ext cx="1280160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161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2441448"/>
            <a:ext cx="2560320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Dieksklusi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9345168" y="3282696"/>
            <a:ext cx="329184" cy="182880"/>
          </a:xfrm>
          <a:prstGeom prst="downArrow">
            <a:avLst/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360920" y="3465576"/>
            <a:ext cx="4297680" cy="841248"/>
          </a:xfrm>
          <a:prstGeom prst="roundRect">
            <a:avLst>
              <a:gd name="adj" fmla="val 6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9520" y="3465576"/>
            <a:ext cx="1280160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120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3465576"/>
            <a:ext cx="2560320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Lolos ke full-text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4489704"/>
            <a:ext cx="4297680" cy="640080"/>
          </a:xfrm>
          <a:prstGeom prst="roundRect">
            <a:avLst>
              <a:gd name="adj" fmla="val 6000"/>
            </a:avLst>
          </a:prstGeom>
          <a:solidFill>
            <a:srgbClr val="EEF4F7"/>
          </a:solidFill>
          <a:ln w="15875">
            <a:solidFill>
              <a:srgbClr val="13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43800" y="4489704"/>
            <a:ext cx="3931920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2545"/>
                </a:solidFill>
                <a:latin typeface="Calibri"/>
              </a:rPr>
              <a:t>κ final = 0.71</a:t>
            </a:r>
            <a:r>
              <a:rPr sz="1250" b="0" i="1">
                <a:solidFill>
                  <a:srgbClr val="5B6B7B"/>
                </a:solidFill>
                <a:latin typeface="Calibri"/>
              </a:rPr>
              <a:t>  · Substantial Agreement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806440"/>
            <a:ext cx="1115568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5B6B7B"/>
                </a:solidFill>
                <a:latin typeface="Calibri"/>
              </a:rPr>
              <a:t>6 iterasi kalibrasi (κ: 0.00 → 0.70) + 16 batch screening massal · 47 disagreement diselesaikan · </a:t>
            </a:r>
            <a:r>
              <a:rPr sz="1150" b="1" i="0">
                <a:solidFill>
                  <a:srgbClr val="0B2545"/>
                </a:solidFill>
                <a:latin typeface="Calibri"/>
              </a:rPr>
              <a:t>Eksklusi terbesar: I-NOMATCH 91 (bukan SSM/Mamba) &amp; P-NOMATCH 54 (populasi).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B7B"/>
                </a:solidFill>
                <a:latin typeface="Calibri"/>
              </a:rPr>
              <a:t>Proposal Disertasi  ·  </a:t>
            </a:r>
            <a:r>
              <a:rPr sz="800" b="0" i="1">
                <a:solidFill>
                  <a:srgbClr val="5B6B7B"/>
                </a:solidFill>
                <a:latin typeface="Calibri"/>
              </a:rPr>
              <a:t>Neural Decoding BCI berbasis State-Space Models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6510528"/>
            <a:ext cx="16459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B7B"/>
                </a:solidFill>
                <a:latin typeface="Calibri"/>
              </a:rPr>
              <a:t>Rolly M. Awangga · Tel-U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3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78992"/>
          </a:xfrm>
          <a:prstGeom prst="rect">
            <a:avLst/>
          </a:prstGeom>
          <a:solidFill>
            <a:srgbClr val="F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3A0A6"/>
                </a:solidFill>
                <a:latin typeface="Calibri"/>
              </a:rPr>
              <a:t>POSISI SAAT INI (MODUL 6 · LANGKAH 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2336"/>
            <a:ext cx="10789920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Akuisisi Full-Text &amp; Vektorisasi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146304"/>
            <a:ext cx="6400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B7B"/>
                </a:solidFill>
                <a:latin typeface="Calibri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25880"/>
            <a:ext cx="3840480" cy="310896"/>
          </a:xfrm>
          <a:prstGeom prst="roundRect">
            <a:avLst>
              <a:gd name="adj" fmla="val 50000"/>
            </a:avLst>
          </a:prstGeom>
          <a:solidFill>
            <a:srgbClr val="F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700" bIns="12700" rtlCol="0" anchor="ctr"/>
          <a:lstStyle/>
          <a:p>
            <a:pPr algn="ctr"/>
            <a:r>
              <a:rPr sz="1100" b="1">
                <a:solidFill>
                  <a:srgbClr val="0B2545"/>
                </a:solidFill>
                <a:latin typeface="Calibri"/>
              </a:rPr>
              <a:t>STATUS: M6_STEP1 — WAITING_SYNC (QDRANT)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2024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920240"/>
            <a:ext cx="2697480" cy="635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084832"/>
            <a:ext cx="269748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0B2545"/>
                </a:solidFill>
                <a:latin typeface="Calibri"/>
              </a:rPr>
              <a:t>120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788920"/>
            <a:ext cx="242316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B2545"/>
                </a:solidFill>
                <a:latin typeface="Calibri"/>
              </a:rPr>
              <a:t>Paper masuk (include)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192024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37560" y="1920240"/>
            <a:ext cx="2697480" cy="63500"/>
          </a:xfrm>
          <a:prstGeom prst="rect">
            <a:avLst/>
          </a:prstGeom>
          <a:solidFill>
            <a:srgbClr val="13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37560" y="2084832"/>
            <a:ext cx="269748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13A0A6"/>
                </a:solidFill>
                <a:latin typeface="Calibri"/>
              </a:rPr>
              <a:t>118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788920"/>
            <a:ext cx="242316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B2545"/>
                </a:solidFill>
                <a:latin typeface="Calibri"/>
              </a:rPr>
              <a:t>Full-text via HITL download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92024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72200" y="1920240"/>
            <a:ext cx="2697480" cy="635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72200" y="2084832"/>
            <a:ext cx="269748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2E7D5B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788920"/>
            <a:ext cx="242316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B2545"/>
                </a:solidFill>
                <a:latin typeface="Calibri"/>
              </a:rPr>
              <a:t>Open Access (Unpaywall/arXiv)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6840" y="192024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006840" y="1920240"/>
            <a:ext cx="2697480" cy="63500"/>
          </a:xfrm>
          <a:prstGeom prst="rect">
            <a:avLst/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06840" y="2084832"/>
            <a:ext cx="269748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5B6B7B"/>
                </a:solidFill>
                <a:latin typeface="Calibri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788920"/>
            <a:ext cx="242316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B2545"/>
                </a:solidFill>
                <a:latin typeface="Calibri"/>
              </a:rPr>
              <a:t>Inaccessible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114800"/>
            <a:ext cx="5486400" cy="2148840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31520" y="4297680"/>
            <a:ext cx="2743200" cy="310896"/>
          </a:xfrm>
          <a:prstGeom prst="roundRect">
            <a:avLst>
              <a:gd name="adj" fmla="val 50000"/>
            </a:avLst>
          </a:prstGeom>
          <a:solidFill>
            <a:srgbClr val="13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700" bIns="127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VECTOR DB · QDRANT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800600"/>
            <a:ext cx="5029200" cy="1371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4A300"/>
                </a:solidFill>
                <a:latin typeface="Calibri"/>
              </a:rPr>
              <a:t>54</a:t>
            </a:r>
            <a:r>
              <a:rPr sz="1600" b="1" i="0">
                <a:solidFill>
                  <a:srgbClr val="FFFFFF"/>
                </a:solidFill>
                <a:latin typeface="Calibri"/>
              </a:rPr>
              <a:t>  paper ter-vektorisasi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3A0A6"/>
                </a:solidFill>
                <a:latin typeface="Calibri"/>
              </a:rPr>
              <a:t>2.918 chunks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tersimpan di koleksi </a:t>
            </a:r>
            <a:r>
              <a:rPr sz="1300" b="0" i="1">
                <a:solidFill>
                  <a:srgbClr val="F4A300"/>
                </a:solidFill>
                <a:latin typeface="Calibri"/>
              </a:rPr>
              <a:t>scientific_articles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5B6B7B"/>
                </a:solidFill>
                <a:latin typeface="Calibri"/>
              </a:rPr>
              <a:t>Siap untuk ekstraksi semantik (RAG) pada Modul 7.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4114800"/>
            <a:ext cx="5513832" cy="2148840"/>
          </a:xfrm>
          <a:prstGeom prst="roundRect">
            <a:avLst>
              <a:gd name="adj" fmla="val 6000"/>
            </a:avLst>
          </a:prstGeom>
          <a:solidFill>
            <a:srgbClr val="EEF4F7"/>
          </a:solidFill>
          <a:ln w="15875">
            <a:solidFill>
              <a:srgbClr val="13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0" y="4251960"/>
            <a:ext cx="512064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B2545"/>
                </a:solidFill>
                <a:latin typeface="Calibri"/>
              </a:rPr>
              <a:t>Alur Modul 6: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66344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00" b="0">
                <a:solidFill>
                  <a:srgbClr val="0B2545"/>
                </a:solidFill>
                <a:latin typeface="Calibri"/>
              </a:rPr>
              <a:t>●  Resolusi OA otomatis (Unpaywall/arXiv) → unduh PDF.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00" b="0">
                <a:solidFill>
                  <a:srgbClr val="0B2545"/>
                </a:solidFill>
                <a:latin typeface="Calibri"/>
              </a:rPr>
              <a:t>●  Human-in-the-loop untuk paper berbayar (118).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00" b="0">
                <a:solidFill>
                  <a:srgbClr val="0B2545"/>
                </a:solidFill>
                <a:latin typeface="Calibri"/>
              </a:rPr>
              <a:t>●  Chunking + embedding → upsert ke Qdrant.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00" b="0">
                <a:solidFill>
                  <a:srgbClr val="0B2545"/>
                </a:solidFill>
                <a:latin typeface="Calibri"/>
              </a:rPr>
              <a:t>●  Sinkronisasi sedang berjalan (langkah aktif).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B7B"/>
                </a:solidFill>
                <a:latin typeface="Calibri"/>
              </a:rPr>
              <a:t>Proposal Disertasi  ·  </a:t>
            </a:r>
            <a:r>
              <a:rPr sz="800" b="0" i="1">
                <a:solidFill>
                  <a:srgbClr val="5B6B7B"/>
                </a:solidFill>
                <a:latin typeface="Calibri"/>
              </a:rPr>
              <a:t>Neural Decoding BCI berbasis State-Space Models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6510528"/>
            <a:ext cx="16459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B7B"/>
                </a:solidFill>
                <a:latin typeface="Calibri"/>
              </a:rPr>
              <a:t>Rolly M. Awangga · Tel-U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3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78992"/>
          </a:xfrm>
          <a:prstGeom prst="rect">
            <a:avLst/>
          </a:prstGeom>
          <a:solidFill>
            <a:srgbClr val="F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3A0A6"/>
                </a:solidFill>
                <a:latin typeface="Calibri"/>
              </a:rPr>
              <a:t>STATUS KEMAJUAN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2336"/>
            <a:ext cx="10789920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Peta Jalan Penelitian &amp; Capaian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146304"/>
            <a:ext cx="6400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B7B"/>
                </a:solidFill>
                <a:latin typeface="Calibri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25880"/>
            <a:ext cx="11183112" cy="365760"/>
          </a:xfrm>
          <a:prstGeom prst="roundRect">
            <a:avLst/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02920" y="1325880"/>
            <a:ext cx="8786730" cy="365760"/>
          </a:xfrm>
          <a:prstGeom prst="roundRect">
            <a:avLst/>
          </a:prstGeom>
          <a:solidFill>
            <a:srgbClr val="13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325880"/>
            <a:ext cx="11183112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2545"/>
                </a:solidFill>
                <a:latin typeface="Calibri"/>
              </a:rPr>
              <a:t>  ±78% pipeline SLR selesai  (M1–M5 tuntas, M6 berjalan)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057400"/>
            <a:ext cx="365760" cy="365760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1965960"/>
            <a:ext cx="118872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B2545"/>
                </a:solidFill>
                <a:latin typeface="Calibri"/>
              </a:rPr>
              <a:t>M1–M2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1965960"/>
            <a:ext cx="301752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2545"/>
                </a:solidFill>
                <a:latin typeface="Calibri"/>
              </a:rPr>
              <a:t>Fondasi &amp; PICO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1965960"/>
            <a:ext cx="512064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B7B"/>
                </a:solidFill>
                <a:latin typeface="Calibri"/>
              </a:rPr>
              <a:t>Topik, gap Tipe A, 4 RQ, FINER PASS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61320" y="207568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700" bIns="1270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SELESAI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2651760"/>
            <a:ext cx="365760" cy="365760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2560320"/>
            <a:ext cx="118872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B2545"/>
                </a:solidFill>
                <a:latin typeface="Calibri"/>
              </a:rPr>
              <a:t>M3–M4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2560320"/>
            <a:ext cx="301752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2545"/>
                </a:solidFill>
                <a:latin typeface="Calibri"/>
              </a:rPr>
              <a:t>Pencarian &amp; Mining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2560320"/>
            <a:ext cx="512064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B7B"/>
                </a:solidFill>
                <a:latin typeface="Calibri"/>
              </a:rPr>
              <a:t>4 database, 433→289 rekaman unik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61320" y="26700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700" bIns="1270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SELESAI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" y="3246120"/>
            <a:ext cx="365760" cy="365760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7280" y="3154680"/>
            <a:ext cx="118872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B2545"/>
                </a:solidFill>
                <a:latin typeface="Calibri"/>
              </a:rPr>
              <a:t>M5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3154680"/>
            <a:ext cx="301752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2545"/>
                </a:solidFill>
                <a:latin typeface="Calibri"/>
              </a:rPr>
              <a:t>Screening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3154680"/>
            <a:ext cx="512064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B7B"/>
                </a:solidFill>
                <a:latin typeface="Calibri"/>
              </a:rPr>
              <a:t>κ=0.71, 120 paper lolos full-text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561320" y="326440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700" bIns="1270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SELESAI</a:t>
            </a:r>
          </a:p>
        </p:txBody>
      </p:sp>
      <p:sp>
        <p:nvSpPr>
          <p:cNvPr id="27" name="Oval 26"/>
          <p:cNvSpPr/>
          <p:nvPr/>
        </p:nvSpPr>
        <p:spPr>
          <a:xfrm>
            <a:off x="548640" y="3840480"/>
            <a:ext cx="365760" cy="365760"/>
          </a:xfrm>
          <a:prstGeom prst="ellipse">
            <a:avLst/>
          </a:prstGeom>
          <a:solidFill>
            <a:srgbClr val="F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97280" y="3749040"/>
            <a:ext cx="118872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B2545"/>
                </a:solidFill>
                <a:latin typeface="Calibri"/>
              </a:rPr>
              <a:t>M6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20" y="3749040"/>
            <a:ext cx="301752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2545"/>
                </a:solidFill>
                <a:latin typeface="Calibri"/>
              </a:rPr>
              <a:t>Akuisisi &amp; Vektorisasi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9240" y="3749040"/>
            <a:ext cx="512064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B7B"/>
                </a:solidFill>
                <a:latin typeface="Calibri"/>
              </a:rPr>
              <a:t>120 full-text · 54 di Qdrant (sinkronisasi)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561320" y="385876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700" bIns="1270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BERJALAN</a:t>
            </a:r>
          </a:p>
        </p:txBody>
      </p:sp>
      <p:sp>
        <p:nvSpPr>
          <p:cNvPr id="32" name="Oval 31"/>
          <p:cNvSpPr/>
          <p:nvPr/>
        </p:nvSpPr>
        <p:spPr>
          <a:xfrm>
            <a:off x="548640" y="4434840"/>
            <a:ext cx="365760" cy="365760"/>
          </a:xfrm>
          <a:prstGeom prst="ellipse">
            <a:avLst/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97280" y="4343400"/>
            <a:ext cx="118872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B2545"/>
                </a:solidFill>
                <a:latin typeface="Calibri"/>
              </a:rPr>
              <a:t>M7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4343400"/>
            <a:ext cx="301752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2545"/>
                </a:solidFill>
                <a:latin typeface="Calibri"/>
              </a:rPr>
              <a:t>Ekstraksi Data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9240" y="4343400"/>
            <a:ext cx="512064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B7B"/>
                </a:solidFill>
                <a:latin typeface="Calibri"/>
              </a:rPr>
              <a:t>Ekstraksi metrik akurasi &amp; efisiensi (RAG)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561320" y="445312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700" bIns="1270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RENCANA</a:t>
            </a:r>
          </a:p>
        </p:txBody>
      </p:sp>
      <p:sp>
        <p:nvSpPr>
          <p:cNvPr id="37" name="Oval 36"/>
          <p:cNvSpPr/>
          <p:nvPr/>
        </p:nvSpPr>
        <p:spPr>
          <a:xfrm>
            <a:off x="548640" y="5029200"/>
            <a:ext cx="365760" cy="365760"/>
          </a:xfrm>
          <a:prstGeom prst="ellipse">
            <a:avLst/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97280" y="4937760"/>
            <a:ext cx="118872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B2545"/>
                </a:solidFill>
                <a:latin typeface="Calibri"/>
              </a:rPr>
              <a:t>M8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31720" y="4937760"/>
            <a:ext cx="301752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2545"/>
                </a:solidFill>
                <a:latin typeface="Calibri"/>
              </a:rPr>
              <a:t>Sintesis &amp; Bibliometrik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49240" y="4937760"/>
            <a:ext cx="512064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B7B"/>
                </a:solidFill>
                <a:latin typeface="Calibri"/>
              </a:rPr>
              <a:t>Jawab RQ1–RQ4, analisis trade-off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561320" y="504748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700" bIns="1270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RENCANA</a:t>
            </a:r>
          </a:p>
        </p:txBody>
      </p:sp>
      <p:sp>
        <p:nvSpPr>
          <p:cNvPr id="42" name="Oval 41"/>
          <p:cNvSpPr/>
          <p:nvPr/>
        </p:nvSpPr>
        <p:spPr>
          <a:xfrm>
            <a:off x="548640" y="5623560"/>
            <a:ext cx="365760" cy="365760"/>
          </a:xfrm>
          <a:prstGeom prst="ellipse">
            <a:avLst/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97280" y="5532120"/>
            <a:ext cx="118872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B2545"/>
                </a:solidFill>
                <a:latin typeface="Calibri"/>
              </a:rPr>
              <a:t>M9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31720" y="5532120"/>
            <a:ext cx="301752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2545"/>
                </a:solidFill>
                <a:latin typeface="Calibri"/>
              </a:rPr>
              <a:t>Penyusunan Naskah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49240" y="5532120"/>
            <a:ext cx="512064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B7B"/>
                </a:solidFill>
                <a:latin typeface="Calibri"/>
              </a:rPr>
              <a:t>Manuskrip tinjauan sistematis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561320" y="56418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700" bIns="1270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RENCANA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B7B"/>
                </a:solidFill>
                <a:latin typeface="Calibri"/>
              </a:rPr>
              <a:t>Proposal Disertasi  ·  </a:t>
            </a:r>
            <a:r>
              <a:rPr sz="800" b="0" i="1">
                <a:solidFill>
                  <a:srgbClr val="5B6B7B"/>
                </a:solidFill>
                <a:latin typeface="Calibri"/>
              </a:rPr>
              <a:t>Neural Decoding BCI berbasis State-Space Models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0" y="6510528"/>
            <a:ext cx="16459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B7B"/>
                </a:solidFill>
                <a:latin typeface="Calibri"/>
              </a:rPr>
              <a:t>Rolly M. Awangga · Tel-U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13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78992"/>
          </a:xfrm>
          <a:prstGeom prst="rect">
            <a:avLst/>
          </a:prstGeom>
          <a:solidFill>
            <a:srgbClr val="F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3A0A6"/>
                </a:solidFill>
                <a:latin typeface="Calibri"/>
              </a:rPr>
              <a:t>KONTRIBUSI &amp; RENCANA LANJUT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2336"/>
            <a:ext cx="10789920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Kontribusi yang Diharapkan &amp; Langkah Berikutnya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146304"/>
            <a:ext cx="6400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B7B"/>
                </a:solidFill>
                <a:latin typeface="Calibri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25880"/>
            <a:ext cx="5486400" cy="4114800"/>
          </a:xfrm>
          <a:prstGeom prst="roundRect">
            <a:avLst>
              <a:gd name="adj" fmla="val 6000"/>
            </a:avLst>
          </a:prstGeom>
          <a:solidFill>
            <a:srgbClr val="EEF4F7"/>
          </a:solidFill>
          <a:ln w="15875">
            <a:solidFill>
              <a:srgbClr val="13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1527048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13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700" bIns="127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KONTRIBUSI YANG DIHARAPKAN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031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300" b="0">
                <a:solidFill>
                  <a:srgbClr val="0B2545"/>
                </a:solidFill>
                <a:latin typeface="Calibri"/>
              </a:rPr>
              <a:t>●  Tinjauan sistematis pertama khusus arsitektur SSM/Mamba untuk neural decoding BCI.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300" b="0">
                <a:solidFill>
                  <a:srgbClr val="0B2545"/>
                </a:solidFill>
                <a:latin typeface="Calibri"/>
              </a:rPr>
              <a:t>●  Sintesis kuantitatif trade-off akurasi ↔ latensi (&lt;10 ms) lintas modalitas.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300" b="0">
                <a:solidFill>
                  <a:srgbClr val="0B2545"/>
                </a:solidFill>
                <a:latin typeface="Calibri"/>
              </a:rPr>
              <a:t>●  Peta konfigurasi arsitektur (backbone murni vs hibrida POSSM) &amp; keunggulannya.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300" b="0">
                <a:solidFill>
                  <a:srgbClr val="0B2545"/>
                </a:solidFill>
                <a:latin typeface="Calibri"/>
              </a:rPr>
              <a:t>●  Panduan kelayakan model 'mangkus' untuk neuro-prostetik real-time di edge.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300" b="0">
                <a:solidFill>
                  <a:srgbClr val="0B2545"/>
                </a:solidFill>
                <a:latin typeface="Calibri"/>
              </a:rPr>
              <a:t>●  Metodologi SLR berbantu agentic-AI yang reprodusibel &amp; dapat diaudit.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325880"/>
            <a:ext cx="5513832" cy="4114800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00800" y="1527048"/>
            <a:ext cx="2743200" cy="310896"/>
          </a:xfrm>
          <a:prstGeom prst="roundRect">
            <a:avLst>
              <a:gd name="adj" fmla="val 50000"/>
            </a:avLst>
          </a:prstGeom>
          <a:solidFill>
            <a:srgbClr val="F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700" bIns="12700" rtlCol="0" anchor="ctr"/>
          <a:lstStyle/>
          <a:p>
            <a:pPr algn="ctr"/>
            <a:r>
              <a:rPr sz="1100" b="1">
                <a:solidFill>
                  <a:srgbClr val="0B2545"/>
                </a:solidFill>
                <a:latin typeface="Calibri"/>
              </a:rPr>
              <a:t>LANGKAH BERIKUTNYA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194560"/>
            <a:ext cx="109728" cy="685800"/>
          </a:xfrm>
          <a:prstGeom prst="rect">
            <a:avLst/>
          </a:prstGeom>
          <a:solidFill>
            <a:srgbClr val="F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9400" y="2148840"/>
            <a:ext cx="4846320" cy="7772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A300"/>
                </a:solidFill>
                <a:latin typeface="Calibri"/>
              </a:rPr>
              <a:t>M6 – selesaikan sync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Finalisasi vektorisasi 120 paper ke Qdrant.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035808"/>
            <a:ext cx="109728" cy="685800"/>
          </a:xfrm>
          <a:prstGeom prst="rect">
            <a:avLst/>
          </a:prstGeom>
          <a:solidFill>
            <a:srgbClr val="F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29400" y="2990088"/>
            <a:ext cx="4846320" cy="7772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A300"/>
                </a:solidFill>
                <a:latin typeface="Calibri"/>
              </a:rPr>
              <a:t>M7 – Ekstraksi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Ekstraksi metrik akurasi &amp; efisiensi via RAG.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3877056"/>
            <a:ext cx="109728" cy="685800"/>
          </a:xfrm>
          <a:prstGeom prst="rect">
            <a:avLst/>
          </a:prstGeom>
          <a:solidFill>
            <a:srgbClr val="F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29400" y="3831336"/>
            <a:ext cx="4846320" cy="7772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A300"/>
                </a:solidFill>
                <a:latin typeface="Calibri"/>
              </a:rPr>
              <a:t>M8 – Sintesis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Jawab RQ1–RQ4 + analisis bibliometrik.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4718304"/>
            <a:ext cx="109728" cy="685800"/>
          </a:xfrm>
          <a:prstGeom prst="rect">
            <a:avLst/>
          </a:prstGeom>
          <a:solidFill>
            <a:srgbClr val="F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29400" y="4672584"/>
            <a:ext cx="4846320" cy="7772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4A300"/>
                </a:solidFill>
                <a:latin typeface="Calibri"/>
              </a:rPr>
              <a:t>M9 – Naskah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Susun manuskrip &amp; sidang hasil.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B7B"/>
                </a:solidFill>
                <a:latin typeface="Calibri"/>
              </a:rPr>
              <a:t>Proposal Disertasi  ·  </a:t>
            </a:r>
            <a:r>
              <a:rPr sz="800" b="0" i="1">
                <a:solidFill>
                  <a:srgbClr val="5B6B7B"/>
                </a:solidFill>
                <a:latin typeface="Calibri"/>
              </a:rPr>
              <a:t>Neural Decoding BCI berbasis State-Space Models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510528"/>
            <a:ext cx="16459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B7B"/>
                </a:solidFill>
                <a:latin typeface="Calibri"/>
              </a:rPr>
              <a:t>Rolly M. Awangga · Tel-U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480560"/>
            <a:ext cx="12191695" cy="2377440"/>
          </a:xfrm>
          <a:prstGeom prst="rect">
            <a:avLst/>
          </a:prstGeom>
          <a:solidFill>
            <a:srgbClr val="133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4480560"/>
            <a:ext cx="12191695" cy="38100"/>
          </a:xfrm>
          <a:prstGeom prst="rect">
            <a:avLst/>
          </a:prstGeom>
          <a:solidFill>
            <a:srgbClr val="13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680749" y="1502774"/>
            <a:ext cx="132962" cy="132962"/>
          </a:xfrm>
          <a:prstGeom prst="ellipse">
            <a:avLst/>
          </a:prstGeom>
          <a:solidFill>
            <a:srgbClr val="F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853178" y="1563371"/>
            <a:ext cx="67216" cy="67216"/>
          </a:xfrm>
          <a:prstGeom prst="ellipse">
            <a:avLst/>
          </a:prstGeom>
          <a:solidFill>
            <a:srgbClr val="13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232600" y="2014555"/>
            <a:ext cx="59167" cy="59167"/>
          </a:xfrm>
          <a:prstGeom prst="ellipse">
            <a:avLst/>
          </a:prstGeom>
          <a:solidFill>
            <a:srgbClr val="F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56211" y="2051133"/>
            <a:ext cx="112446" cy="112446"/>
          </a:xfrm>
          <a:prstGeom prst="ellipse">
            <a:avLst/>
          </a:prstGeom>
          <a:solidFill>
            <a:srgbClr val="F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327920" y="2391538"/>
            <a:ext cx="108933" cy="108933"/>
          </a:xfrm>
          <a:prstGeom prst="ellipse">
            <a:avLst/>
          </a:prstGeom>
          <a:solidFill>
            <a:srgbClr val="13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63962" y="307240"/>
            <a:ext cx="97773" cy="97773"/>
          </a:xfrm>
          <a:prstGeom prst="ellipse">
            <a:avLst/>
          </a:prstGeom>
          <a:solidFill>
            <a:srgbClr val="F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65669" y="805278"/>
            <a:ext cx="53474" cy="53474"/>
          </a:xfrm>
          <a:prstGeom prst="ellipse">
            <a:avLst/>
          </a:prstGeom>
          <a:solidFill>
            <a:srgbClr val="F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643913" y="2123076"/>
            <a:ext cx="96950" cy="96950"/>
          </a:xfrm>
          <a:prstGeom prst="ellipse">
            <a:avLst/>
          </a:prstGeom>
          <a:solidFill>
            <a:srgbClr val="13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828094" y="1728105"/>
            <a:ext cx="91456" cy="91456"/>
          </a:xfrm>
          <a:prstGeom prst="ellipse">
            <a:avLst/>
          </a:prstGeom>
          <a:solidFill>
            <a:srgbClr val="F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375993" y="2459425"/>
            <a:ext cx="125495" cy="125495"/>
          </a:xfrm>
          <a:prstGeom prst="ellipse">
            <a:avLst/>
          </a:prstGeom>
          <a:solidFill>
            <a:srgbClr val="13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254504" y="778335"/>
            <a:ext cx="76495" cy="76495"/>
          </a:xfrm>
          <a:prstGeom prst="ellipse">
            <a:avLst/>
          </a:prstGeom>
          <a:solidFill>
            <a:srgbClr val="F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656678" y="1153021"/>
            <a:ext cx="126061" cy="126061"/>
          </a:xfrm>
          <a:prstGeom prst="ellipse">
            <a:avLst/>
          </a:prstGeom>
          <a:solidFill>
            <a:srgbClr val="F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252835" y="2133792"/>
            <a:ext cx="50848" cy="50848"/>
          </a:xfrm>
          <a:prstGeom prst="ellipse">
            <a:avLst/>
          </a:prstGeom>
          <a:solidFill>
            <a:srgbClr val="F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104319" y="1305735"/>
            <a:ext cx="137953" cy="137953"/>
          </a:xfrm>
          <a:prstGeom prst="ellipse">
            <a:avLst/>
          </a:prstGeom>
          <a:solidFill>
            <a:srgbClr val="F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01393" y="1655696"/>
            <a:ext cx="120009" cy="120009"/>
          </a:xfrm>
          <a:prstGeom prst="ellipse">
            <a:avLst/>
          </a:prstGeom>
          <a:solidFill>
            <a:srgbClr val="F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45247" y="1004199"/>
            <a:ext cx="136506" cy="136506"/>
          </a:xfrm>
          <a:prstGeom prst="ellipse">
            <a:avLst/>
          </a:prstGeom>
          <a:solidFill>
            <a:srgbClr val="13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1151" y="815033"/>
            <a:ext cx="59783" cy="59783"/>
          </a:xfrm>
          <a:prstGeom prst="ellipse">
            <a:avLst/>
          </a:prstGeom>
          <a:solidFill>
            <a:srgbClr val="F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752227" y="664245"/>
            <a:ext cx="100521" cy="100521"/>
          </a:xfrm>
          <a:prstGeom prst="ellipse">
            <a:avLst/>
          </a:prstGeom>
          <a:solidFill>
            <a:srgbClr val="F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67150" y="1880505"/>
            <a:ext cx="62442" cy="62442"/>
          </a:xfrm>
          <a:prstGeom prst="ellipse">
            <a:avLst/>
          </a:prstGeom>
          <a:solidFill>
            <a:srgbClr val="13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36538" y="1197693"/>
            <a:ext cx="69723" cy="69723"/>
          </a:xfrm>
          <a:prstGeom prst="ellipse">
            <a:avLst/>
          </a:prstGeom>
          <a:solidFill>
            <a:srgbClr val="F4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292899" y="2037454"/>
            <a:ext cx="77838" cy="77838"/>
          </a:xfrm>
          <a:prstGeom prst="ellipse">
            <a:avLst/>
          </a:prstGeom>
          <a:solidFill>
            <a:srgbClr val="13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29409" y="1139579"/>
            <a:ext cx="126754" cy="126754"/>
          </a:xfrm>
          <a:prstGeom prst="ellipse">
            <a:avLst/>
          </a:prstGeom>
          <a:solidFill>
            <a:srgbClr val="13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1737360"/>
            <a:ext cx="10515600" cy="1463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</a:pPr>
            <a:r>
              <a:rPr sz="5000" b="1" i="0">
                <a:solidFill>
                  <a:srgbClr val="FFFFFF"/>
                </a:solidFill>
                <a:latin typeface="Calibri"/>
              </a:rPr>
              <a:t>Terima Kasih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1">
                <a:solidFill>
                  <a:srgbClr val="5B6B7B"/>
                </a:solidFill>
                <a:latin typeface="Calibri"/>
              </a:rPr>
              <a:t>Diskusi &amp; masukan sangat diharapkan untuk penyempurnaan proposal.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709160"/>
            <a:ext cx="10607040" cy="1645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Rolly Maulana Awangga</a:t>
            </a:r>
            <a:r>
              <a:rPr sz="1400" b="0" i="0">
                <a:solidFill>
                  <a:srgbClr val="5B6B7B"/>
                </a:solidFill>
                <a:latin typeface="Calibri"/>
              </a:rPr>
              <a:t>   ·   NIM 303012510004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3A0A6"/>
                </a:solidFill>
                <a:latin typeface="Calibri"/>
              </a:rPr>
              <a:t>rollymaulanaa@student.telkomuniversity.ac.id  ·  Program Doktor — Universitas Telkom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5B6B7B"/>
                </a:solidFill>
                <a:latin typeface="Calibri"/>
              </a:rPr>
              <a:t>Peningkatan Akurasi &amp; Skalabilitas Neural Decoding via State-Space Models pada Ekosistem BCI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2017</Words>
  <Application>Microsoft Office PowerPoint</Application>
  <PresentationFormat>Widescreen</PresentationFormat>
  <Paragraphs>297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ROLLY MAULANA AWANGGA</cp:lastModifiedBy>
  <cp:revision>4</cp:revision>
  <dcterms:created xsi:type="dcterms:W3CDTF">2013-01-27T09:14:16Z</dcterms:created>
  <dcterms:modified xsi:type="dcterms:W3CDTF">2026-06-02T02:27:38Z</dcterms:modified>
  <cp:category/>
</cp:coreProperties>
</file>